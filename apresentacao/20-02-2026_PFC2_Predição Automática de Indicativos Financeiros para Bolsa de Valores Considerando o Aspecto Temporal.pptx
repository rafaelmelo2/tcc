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Garet" charset="1" panose="00000000000000000000"/>
      <p:regular r:id="rId27"/>
    </p:embeddedFont>
    <p:embeddedFont>
      <p:font typeface="Aileron" charset="1" panose="00000500000000000000"/>
      <p:regular r:id="rId28"/>
    </p:embeddedFont>
    <p:embeddedFont>
      <p:font typeface="Garet Bold" charset="1" panose="00000000000000000000"/>
      <p:regular r:id="rId30"/>
    </p:embeddedFont>
    <p:embeddedFont>
      <p:font typeface="Aileron Bold" charset="1" panose="0000080000000000000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notesMasters/notesMaster1.xml" Type="http://schemas.openxmlformats.org/officeDocument/2006/relationships/notesMaster"/><Relationship Id="rId25" Target="theme/theme2.xml" Type="http://schemas.openxmlformats.org/officeDocument/2006/relationships/theme"/><Relationship Id="rId26" Target="notesSlides/notesSlide1.xml" Type="http://schemas.openxmlformats.org/officeDocument/2006/relationships/notes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Slides/notesSlide2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3.xml" Type="http://schemas.openxmlformats.org/officeDocument/2006/relationships/notesSlide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fonts/font37.fntdata" Type="http://schemas.openxmlformats.org/officeDocument/2006/relationships/font"/><Relationship Id="rId38" Target="notesSlides/notesSlide9.xml" Type="http://schemas.openxmlformats.org/officeDocument/2006/relationships/notesSlide"/><Relationship Id="rId39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1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Então aqui está roteiro que vou seguir.</a:t>
            </a:r>
          </a:p>
          <a:p>
            <a:r>
              <a:rPr lang="en-US"/>
              <a:t/>
            </a:r>
          </a:p>
          <a:p>
            <a:r>
              <a:rPr lang="en-US"/>
              <a:t>Justificar o problema....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Situando o problema no mercado brasileiro e por que isso importa hoje.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Temos também os indicadores técnicos de uma bolsa de valores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Dado esse cenário de volatilidade e incerteza, qual é o impacto esperado e a oportunidade deste projeto?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Para responder com rigor, alinhamos rapidamente os conceitos-chave que vou usar.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Com os termos no lugar, passo ao pano de fundo das séries temporais e seus padrões.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Esse recorte dialoga com estudos correlatos que embasam nossas escolhas e reforçam a relevância.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Modelo sem teste vira promessa; aqui está como vamos avaliar robustez e aderência prática (inclui backtests).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Esse recorte dialoga com estudos correlatos que embasam nossas escolhas e reforçam a relevância.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Esse recorte dialoga com estudos correlatos que embasam nossas escolhas e reforçam a relevância.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Com isso concluo a apresentação. Agradeço a atenção de todos. Estou à disposição para perguntas e contribuições.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0.png" Type="http://schemas.openxmlformats.org/officeDocument/2006/relationships/image"/><Relationship Id="rId4" Target="../media/image2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2.png" Type="http://schemas.openxmlformats.org/officeDocument/2006/relationships/image"/><Relationship Id="rId4" Target="../media/image2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4.png" Type="http://schemas.openxmlformats.org/officeDocument/2006/relationships/image"/><Relationship Id="rId4" Target="../media/image2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1.png" Type="http://schemas.openxmlformats.org/officeDocument/2006/relationships/image"/><Relationship Id="rId4" Target="../media/image3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3.png" Type="http://schemas.openxmlformats.org/officeDocument/2006/relationships/image"/><Relationship Id="rId4" Target="../media/image34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22279" y="-1678670"/>
            <a:ext cx="13306457" cy="1330645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754888" y="1028700"/>
            <a:ext cx="2428427" cy="824816"/>
          </a:xfrm>
          <a:custGeom>
            <a:avLst/>
            <a:gdLst/>
            <a:ahLst/>
            <a:cxnLst/>
            <a:rect r="r" b="b" t="t" l="l"/>
            <a:pathLst>
              <a:path h="824816" w="2428427">
                <a:moveTo>
                  <a:pt x="0" y="0"/>
                </a:moveTo>
                <a:lnTo>
                  <a:pt x="2428427" y="0"/>
                </a:lnTo>
                <a:lnTo>
                  <a:pt x="2428427" y="824816"/>
                </a:lnTo>
                <a:lnTo>
                  <a:pt x="0" y="8248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93216" y="923925"/>
            <a:ext cx="11006129" cy="352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F5F5F5"/>
                </a:solidFill>
                <a:latin typeface="Garet"/>
                <a:ea typeface="Garet"/>
                <a:cs typeface="Garet"/>
                <a:sym typeface="Garet"/>
              </a:rPr>
              <a:t>Predição Automática de Indicativos Financeiros para </a:t>
            </a:r>
            <a:r>
              <a:rPr lang="en-US" sz="5000">
                <a:solidFill>
                  <a:srgbClr val="EB5436"/>
                </a:solidFill>
                <a:latin typeface="Garet"/>
                <a:ea typeface="Garet"/>
                <a:cs typeface="Garet"/>
                <a:sym typeface="Garet"/>
              </a:rPr>
              <a:t>Bolsa de Valores</a:t>
            </a:r>
            <a:r>
              <a:rPr lang="en-US" sz="5000">
                <a:solidFill>
                  <a:srgbClr val="F5F5F5"/>
                </a:solidFill>
                <a:latin typeface="Garet"/>
                <a:ea typeface="Garet"/>
                <a:cs typeface="Garet"/>
                <a:sym typeface="Garet"/>
              </a:rPr>
              <a:t> Considerando o Aspecto Temporal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935260" y="3400566"/>
            <a:ext cx="5324040" cy="5857734"/>
          </a:xfrm>
          <a:custGeom>
            <a:avLst/>
            <a:gdLst/>
            <a:ahLst/>
            <a:cxnLst/>
            <a:rect r="r" b="b" t="t" l="l"/>
            <a:pathLst>
              <a:path h="5857734" w="5324040">
                <a:moveTo>
                  <a:pt x="0" y="0"/>
                </a:moveTo>
                <a:lnTo>
                  <a:pt x="5324040" y="0"/>
                </a:lnTo>
                <a:lnTo>
                  <a:pt x="5324040" y="5857734"/>
                </a:lnTo>
                <a:lnTo>
                  <a:pt x="0" y="5857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6899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8204200"/>
            <a:ext cx="8273574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Projeto Final de Curso 2 - Universidade Federal de Catalão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Rafael da Silva Melo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Orientador: Prof. Dr. Márcio de Souza Dias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821189" y="9707303"/>
            <a:ext cx="169515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35960" y="-3762709"/>
            <a:ext cx="13306457" cy="1330645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038225"/>
            <a:ext cx="5089068" cy="97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Sumário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111073"/>
            <a:ext cx="8388392" cy="655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Revisão rápida do PFC1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Metodologia</a:t>
            </a:r>
          </a:p>
          <a:p>
            <a:pPr algn="l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Dados</a:t>
            </a:r>
          </a:p>
          <a:p>
            <a:pPr algn="l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Atributos</a:t>
            </a:r>
          </a:p>
          <a:p>
            <a:pPr algn="l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Walk-forward</a:t>
            </a:r>
          </a:p>
          <a:p>
            <a:pPr algn="l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Modelo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Resultad</a:t>
            </a:r>
            <a:r>
              <a:rPr lang="en-US" sz="2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os</a:t>
            </a:r>
          </a:p>
          <a:p>
            <a:pPr algn="l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Métricas </a:t>
            </a:r>
          </a:p>
          <a:p>
            <a:pPr algn="l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S</a:t>
            </a:r>
            <a:r>
              <a:rPr lang="en-US" sz="2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ignificância </a:t>
            </a:r>
          </a:p>
          <a:p>
            <a:pPr algn="l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B</a:t>
            </a:r>
            <a:r>
              <a:rPr lang="en-US" sz="2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acktests </a:t>
            </a:r>
          </a:p>
          <a:p>
            <a:pPr algn="l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P</a:t>
            </a:r>
            <a:r>
              <a:rPr lang="en-US" sz="2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ós-custos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Robustez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Reprodutibilidade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Conclusões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Trabalhos futuros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968680" y="2724131"/>
            <a:ext cx="3290620" cy="5307452"/>
          </a:xfrm>
          <a:custGeom>
            <a:avLst/>
            <a:gdLst/>
            <a:ahLst/>
            <a:cxnLst/>
            <a:rect r="r" b="b" t="t" l="l"/>
            <a:pathLst>
              <a:path h="5307452" w="3290620">
                <a:moveTo>
                  <a:pt x="0" y="0"/>
                </a:moveTo>
                <a:lnTo>
                  <a:pt x="3290620" y="0"/>
                </a:lnTo>
                <a:lnTo>
                  <a:pt x="3290620" y="5307452"/>
                </a:lnTo>
                <a:lnTo>
                  <a:pt x="0" y="53074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889483" y="2172039"/>
            <a:ext cx="4084408" cy="5942921"/>
          </a:xfrm>
          <a:custGeom>
            <a:avLst/>
            <a:gdLst/>
            <a:ahLst/>
            <a:cxnLst/>
            <a:rect r="r" b="b" t="t" l="l"/>
            <a:pathLst>
              <a:path h="5942921" w="4084408">
                <a:moveTo>
                  <a:pt x="0" y="0"/>
                </a:moveTo>
                <a:lnTo>
                  <a:pt x="4084408" y="0"/>
                </a:lnTo>
                <a:lnTo>
                  <a:pt x="4084408" y="5942922"/>
                </a:lnTo>
                <a:lnTo>
                  <a:pt x="0" y="59429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821189" y="9707303"/>
            <a:ext cx="169515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33476" y="-6159317"/>
            <a:ext cx="10605956" cy="1060595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872018" y="599632"/>
            <a:ext cx="2834255" cy="2834255"/>
          </a:xfrm>
          <a:custGeom>
            <a:avLst/>
            <a:gdLst/>
            <a:ahLst/>
            <a:cxnLst/>
            <a:rect r="r" b="b" t="t" l="l"/>
            <a:pathLst>
              <a:path h="2834255" w="2834255">
                <a:moveTo>
                  <a:pt x="0" y="0"/>
                </a:moveTo>
                <a:lnTo>
                  <a:pt x="2834256" y="0"/>
                </a:lnTo>
                <a:lnTo>
                  <a:pt x="2834256" y="2834256"/>
                </a:lnTo>
                <a:lnTo>
                  <a:pt x="0" y="28342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599039"/>
            <a:ext cx="2968403" cy="41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1"/>
              </a:lnSpc>
            </a:pPr>
            <a:r>
              <a:rPr lang="en-US" sz="2443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PFC1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038225"/>
            <a:ext cx="8115300" cy="292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PFC1 → PFC2</a:t>
            </a:r>
          </a:p>
          <a:p>
            <a:pPr algn="l">
              <a:lnSpc>
                <a:spcPts val="767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onde paramos?</a:t>
            </a:r>
          </a:p>
          <a:p>
            <a:pPr algn="l">
              <a:lnSpc>
                <a:spcPts val="767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041458"/>
            <a:ext cx="10004776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N</a:t>
            </a: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o PFC1, a proposta ficou definida e o PFC2 foi planejado como execução completa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821189" y="9707303"/>
            <a:ext cx="169515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972197"/>
            <a:ext cx="6593979" cy="1978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•Contexto e motivação (B3, intradiário)</a:t>
            </a:r>
          </a:p>
          <a:p>
            <a:pPr algn="l">
              <a:lnSpc>
                <a:spcPts val="40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•Pergunta central (quando CNN+LSTM supera baselines?)</a:t>
            </a:r>
          </a:p>
          <a:p>
            <a:pPr algn="l">
              <a:lnSpc>
                <a:spcPts val="40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•Delimitações (ativos, frequência, horizonte)</a:t>
            </a:r>
          </a:p>
          <a:p>
            <a:pPr algn="l">
              <a:lnSpc>
                <a:spcPts val="40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•Plano: pipeline, validação temporal, backtests e robustez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12295" y="4599039"/>
            <a:ext cx="2968403" cy="41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1"/>
              </a:lnSpc>
            </a:pPr>
            <a:r>
              <a:rPr lang="en-US" sz="2443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PFC2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12295" y="4972197"/>
            <a:ext cx="6593979" cy="2987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•Dataset 15 min</a:t>
            </a:r>
          </a:p>
          <a:p>
            <a:pPr algn="l">
              <a:lnSpc>
                <a:spcPts val="40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•Engenharia de atributos</a:t>
            </a:r>
          </a:p>
          <a:p>
            <a:pPr algn="l">
              <a:lnSpc>
                <a:spcPts val="40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•Treino/tuning e comparação com baselines</a:t>
            </a:r>
          </a:p>
          <a:p>
            <a:pPr algn="l">
              <a:lnSpc>
                <a:spcPts val="40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•Resultados: métricas, backtests pós-custos</a:t>
            </a:r>
          </a:p>
          <a:p>
            <a:pPr algn="l">
              <a:lnSpc>
                <a:spcPts val="40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•Análise de limitações e síntese</a:t>
            </a:r>
          </a:p>
          <a:p>
            <a:pPr algn="l">
              <a:lnSpc>
                <a:spcPts val="40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12533" y="-7352776"/>
            <a:ext cx="10605956" cy="1060595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onte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195904" y="132876"/>
            <a:ext cx="2435419" cy="2374533"/>
          </a:xfrm>
          <a:custGeom>
            <a:avLst/>
            <a:gdLst/>
            <a:ahLst/>
            <a:cxnLst/>
            <a:rect r="r" b="b" t="t" l="l"/>
            <a:pathLst>
              <a:path h="2374533" w="2435419">
                <a:moveTo>
                  <a:pt x="0" y="0"/>
                </a:moveTo>
                <a:lnTo>
                  <a:pt x="2435419" y="0"/>
                </a:lnTo>
                <a:lnTo>
                  <a:pt x="2435419" y="2374533"/>
                </a:lnTo>
                <a:lnTo>
                  <a:pt x="0" y="23745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685031" y="5780753"/>
            <a:ext cx="5614399" cy="3719540"/>
          </a:xfrm>
          <a:custGeom>
            <a:avLst/>
            <a:gdLst/>
            <a:ahLst/>
            <a:cxnLst/>
            <a:rect r="r" b="b" t="t" l="l"/>
            <a:pathLst>
              <a:path h="3719540" w="5614399">
                <a:moveTo>
                  <a:pt x="0" y="0"/>
                </a:moveTo>
                <a:lnTo>
                  <a:pt x="5614399" y="0"/>
                </a:lnTo>
                <a:lnTo>
                  <a:pt x="5614399" y="3719540"/>
                </a:lnTo>
                <a:lnTo>
                  <a:pt x="0" y="37195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020171" y="5780753"/>
            <a:ext cx="5582799" cy="3719540"/>
          </a:xfrm>
          <a:custGeom>
            <a:avLst/>
            <a:gdLst/>
            <a:ahLst/>
            <a:cxnLst/>
            <a:rect r="r" b="b" t="t" l="l"/>
            <a:pathLst>
              <a:path h="3719540" w="5582799">
                <a:moveTo>
                  <a:pt x="0" y="0"/>
                </a:moveTo>
                <a:lnTo>
                  <a:pt x="5582798" y="0"/>
                </a:lnTo>
                <a:lnTo>
                  <a:pt x="5582798" y="3719540"/>
                </a:lnTo>
                <a:lnTo>
                  <a:pt x="0" y="37195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821189" y="9707303"/>
            <a:ext cx="169515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622264"/>
            <a:ext cx="13956953" cy="3158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Protocolo walk-forward com embargo (treino em blocos de 1 ano; 4 folds por ativo)</a:t>
            </a:r>
          </a:p>
          <a:p>
            <a:pPr algn="l" marL="453392" indent="-226696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Tarefa direcional intradiária (+1 barra/15 min) com banda morta de 0,1%</a:t>
            </a:r>
          </a:p>
          <a:p>
            <a:pPr algn="l" marL="453392" indent="-226696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Features técnicas (12 variáveis) e normalização sem vazamento temporal</a:t>
            </a:r>
          </a:p>
          <a:p>
            <a:pPr algn="l" marL="453392" indent="-226696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Tuning com Optuna dentro do pipeline + logs/artefatos para reproduzir</a:t>
            </a:r>
          </a:p>
          <a:p>
            <a:pPr algn="l" marL="453392" indent="-226696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Avaliação completa: métricas de classificação, calibração, significância (Diebold–Mariano) e backtests com custos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366734"/>
            <a:ext cx="12696120" cy="35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39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O foco do PFC2 foi executar o estudo com avaliação realista e reprodutível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685031" y="9576493"/>
            <a:ext cx="561439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Fonte: autor.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1038225"/>
            <a:ext cx="11707287" cy="97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Principais entregas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20171" y="9576493"/>
            <a:ext cx="558279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Fonte: autor.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49698" y="-1921798"/>
            <a:ext cx="14130596" cy="1413059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27530" y="979413"/>
            <a:ext cx="2428427" cy="824816"/>
          </a:xfrm>
          <a:custGeom>
            <a:avLst/>
            <a:gdLst/>
            <a:ahLst/>
            <a:cxnLst/>
            <a:rect r="r" b="b" t="t" l="l"/>
            <a:pathLst>
              <a:path h="824816" w="2428427">
                <a:moveTo>
                  <a:pt x="0" y="0"/>
                </a:moveTo>
                <a:lnTo>
                  <a:pt x="2428427" y="0"/>
                </a:lnTo>
                <a:lnTo>
                  <a:pt x="2428427" y="824815"/>
                </a:lnTo>
                <a:lnTo>
                  <a:pt x="0" y="8248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70481" y="2335528"/>
            <a:ext cx="12689030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Pergunta central do estudo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02084" y="4120672"/>
            <a:ext cx="11483831" cy="181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Em que condições (janelas, regimes de volatilidade e custo) um modelo CNN+LSTM supera comparadores clássicos e variantes com atenção na tarefa de previsão direcional intradiária (+1 barra/15 min) em ações líquidas da B3, sob avaliação walk-forward e métricas pós-custos? 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381413" y="6662101"/>
            <a:ext cx="5525173" cy="2024699"/>
          </a:xfrm>
          <a:custGeom>
            <a:avLst/>
            <a:gdLst/>
            <a:ahLst/>
            <a:cxnLst/>
            <a:rect r="r" b="b" t="t" l="l"/>
            <a:pathLst>
              <a:path h="2024699" w="5525173">
                <a:moveTo>
                  <a:pt x="0" y="0"/>
                </a:moveTo>
                <a:lnTo>
                  <a:pt x="5525174" y="0"/>
                </a:lnTo>
                <a:lnTo>
                  <a:pt x="5525174" y="2024699"/>
                </a:lnTo>
                <a:lnTo>
                  <a:pt x="0" y="20246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36134" r="0" b="-45677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305086" y="8760601"/>
            <a:ext cx="141982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Fonte: autor.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821189" y="9707303"/>
            <a:ext cx="169515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61956" y="2016760"/>
            <a:ext cx="10605956" cy="1060595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4240273"/>
            <a:ext cx="3080957" cy="4114800"/>
          </a:xfrm>
          <a:custGeom>
            <a:avLst/>
            <a:gdLst/>
            <a:ahLst/>
            <a:cxnLst/>
            <a:rect r="r" b="b" t="t" l="l"/>
            <a:pathLst>
              <a:path h="4114800" w="3080957">
                <a:moveTo>
                  <a:pt x="0" y="0"/>
                </a:moveTo>
                <a:lnTo>
                  <a:pt x="3080957" y="0"/>
                </a:lnTo>
                <a:lnTo>
                  <a:pt x="30809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835491" y="3683499"/>
            <a:ext cx="4728654" cy="4728654"/>
          </a:xfrm>
          <a:custGeom>
            <a:avLst/>
            <a:gdLst/>
            <a:ahLst/>
            <a:cxnLst/>
            <a:rect r="r" b="b" t="t" l="l"/>
            <a:pathLst>
              <a:path h="4728654" w="4728654">
                <a:moveTo>
                  <a:pt x="0" y="0"/>
                </a:moveTo>
                <a:lnTo>
                  <a:pt x="4728654" y="0"/>
                </a:lnTo>
                <a:lnTo>
                  <a:pt x="4728654" y="4728654"/>
                </a:lnTo>
                <a:lnTo>
                  <a:pt x="0" y="47286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2026285"/>
            <a:ext cx="8115300" cy="35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39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Dados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96306" y="5432804"/>
            <a:ext cx="3886349" cy="1558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PETR4 - VALE3 - ITUB4</a:t>
            </a:r>
          </a:p>
          <a:p>
            <a:pPr algn="l" marL="453392" indent="-226696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Granularidade  de 15 min</a:t>
            </a:r>
          </a:p>
          <a:p>
            <a:pPr algn="l" marL="453392" indent="-226696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Período: out/2020 - out/2025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038225"/>
            <a:ext cx="11021561" cy="97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Metodologia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821189" y="9707303"/>
            <a:ext cx="169515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56130" y="8420358"/>
            <a:ext cx="1526381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Metatrader 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96986" y="3512820"/>
            <a:ext cx="2679764" cy="4114800"/>
          </a:xfrm>
          <a:custGeom>
            <a:avLst/>
            <a:gdLst/>
            <a:ahLst/>
            <a:cxnLst/>
            <a:rect r="r" b="b" t="t" l="l"/>
            <a:pathLst>
              <a:path h="4114800" w="2679764">
                <a:moveTo>
                  <a:pt x="0" y="0"/>
                </a:moveTo>
                <a:lnTo>
                  <a:pt x="2679763" y="0"/>
                </a:lnTo>
                <a:lnTo>
                  <a:pt x="26797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005949"/>
            <a:ext cx="10802001" cy="2482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• Vol</a:t>
            </a: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atilidade realizada: janela móvel de 20 períodos</a:t>
            </a:r>
          </a:p>
          <a:p>
            <a:pPr algn="l">
              <a:lnSpc>
                <a:spcPts val="40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• MME (EMA): períodos 9, 21, 50 (3 variáveis)</a:t>
            </a:r>
          </a:p>
          <a:p>
            <a:pPr algn="l">
              <a:lnSpc>
                <a:spcPts val="40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• RSI: períodos 9, 21, 50 (3 variáveis)</a:t>
            </a:r>
          </a:p>
          <a:p>
            <a:pPr algn="l">
              <a:lnSpc>
                <a:spcPts val="40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• Bandas de Bollinger (20, 2σ): superior/inferior/mé</a:t>
            </a: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dia + width + position (5 variáveis)</a:t>
            </a:r>
          </a:p>
          <a:p>
            <a:pPr algn="l">
              <a:lnSpc>
                <a:spcPts val="400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38225"/>
            <a:ext cx="11021561" cy="97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Metodologia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702970"/>
            <a:ext cx="6869210" cy="35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39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Entrada: 60 barras × 12 features técnicas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821189" y="9707303"/>
            <a:ext cx="169515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117867"/>
            <a:ext cx="7711827" cy="35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39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Target direcional (+1) com banda morta 0,1%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314565"/>
            <a:ext cx="3271093" cy="197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rt = retorno da próxima barra.</a:t>
            </a:r>
          </a:p>
          <a:p>
            <a:pPr algn="l">
              <a:lnSpc>
                <a:spcPts val="40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rt+1 &gt; 0,1% → alta (1)</a:t>
            </a:r>
          </a:p>
          <a:p>
            <a:pPr algn="l">
              <a:lnSpc>
                <a:spcPts val="40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rt+1 &lt; −0,1% → baixa (−1)</a:t>
            </a:r>
          </a:p>
          <a:p>
            <a:pPr algn="l">
              <a:lnSpc>
                <a:spcPts val="40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caso contrário → neutro (0)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930765"/>
            <a:ext cx="7711827" cy="491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Janela padrão: 60 barras de 15 min (~15h de pregão).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026285"/>
            <a:ext cx="6869210" cy="35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39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Atributos e rotulagem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01265" y="3802064"/>
            <a:ext cx="10605956" cy="1060595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53203" y="6407162"/>
            <a:ext cx="2887893" cy="2851138"/>
          </a:xfrm>
          <a:custGeom>
            <a:avLst/>
            <a:gdLst/>
            <a:ahLst/>
            <a:cxnLst/>
            <a:rect r="r" b="b" t="t" l="l"/>
            <a:pathLst>
              <a:path h="2851138" w="2887893">
                <a:moveTo>
                  <a:pt x="0" y="0"/>
                </a:moveTo>
                <a:lnTo>
                  <a:pt x="2887892" y="0"/>
                </a:lnTo>
                <a:lnTo>
                  <a:pt x="2887892" y="2851138"/>
                </a:lnTo>
                <a:lnTo>
                  <a:pt x="0" y="28511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821189" y="9707303"/>
            <a:ext cx="169515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8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3226377"/>
            <a:ext cx="5949199" cy="726561"/>
            <a:chOff x="0" y="0"/>
            <a:chExt cx="1566867" cy="191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66867" cy="191358"/>
            </a:xfrm>
            <a:custGeom>
              <a:avLst/>
              <a:gdLst/>
              <a:ahLst/>
              <a:cxnLst/>
              <a:rect r="r" b="b" t="t" l="l"/>
              <a:pathLst>
                <a:path h="191358" w="1566867">
                  <a:moveTo>
                    <a:pt x="0" y="0"/>
                  </a:moveTo>
                  <a:lnTo>
                    <a:pt x="1566867" y="0"/>
                  </a:lnTo>
                  <a:lnTo>
                    <a:pt x="1566867" y="191358"/>
                  </a:lnTo>
                  <a:lnTo>
                    <a:pt x="0" y="191358"/>
                  </a:lnTo>
                  <a:close/>
                </a:path>
              </a:pathLst>
            </a:custGeom>
            <a:solidFill>
              <a:srgbClr val="3844A1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71450"/>
              <a:ext cx="1566867" cy="36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2100">
                  <a:solidFill>
                    <a:srgbClr val="FE6544"/>
                  </a:solidFill>
                  <a:latin typeface="Aileron"/>
                  <a:ea typeface="Aileron"/>
                  <a:cs typeface="Aileron"/>
                  <a:sym typeface="Aileron"/>
                </a:rPr>
                <a:t>Treino (1 ano)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7899" y="3226377"/>
            <a:ext cx="1877556" cy="726561"/>
            <a:chOff x="0" y="0"/>
            <a:chExt cx="494500" cy="1913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4500" cy="191358"/>
            </a:xfrm>
            <a:custGeom>
              <a:avLst/>
              <a:gdLst/>
              <a:ahLst/>
              <a:cxnLst/>
              <a:rect r="r" b="b" t="t" l="l"/>
              <a:pathLst>
                <a:path h="191358" w="494500">
                  <a:moveTo>
                    <a:pt x="0" y="0"/>
                  </a:moveTo>
                  <a:lnTo>
                    <a:pt x="494500" y="0"/>
                  </a:lnTo>
                  <a:lnTo>
                    <a:pt x="494500" y="191358"/>
                  </a:lnTo>
                  <a:lnTo>
                    <a:pt x="0" y="191358"/>
                  </a:lnTo>
                  <a:close/>
                </a:path>
              </a:pathLst>
            </a:custGeom>
            <a:solidFill>
              <a:srgbClr val="00004D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71450"/>
              <a:ext cx="494500" cy="36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2100">
                  <a:solidFill>
                    <a:srgbClr val="FE6544"/>
                  </a:solidFill>
                  <a:latin typeface="Aileron"/>
                  <a:ea typeface="Aileron"/>
                  <a:cs typeface="Aileron"/>
                  <a:sym typeface="Aileron"/>
                </a:rPr>
                <a:t>Embargo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855455" y="3226377"/>
            <a:ext cx="3719147" cy="726561"/>
            <a:chOff x="0" y="0"/>
            <a:chExt cx="979528" cy="1913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79528" cy="191358"/>
            </a:xfrm>
            <a:custGeom>
              <a:avLst/>
              <a:gdLst/>
              <a:ahLst/>
              <a:cxnLst/>
              <a:rect r="r" b="b" t="t" l="l"/>
              <a:pathLst>
                <a:path h="191358" w="979528">
                  <a:moveTo>
                    <a:pt x="0" y="0"/>
                  </a:moveTo>
                  <a:lnTo>
                    <a:pt x="979528" y="0"/>
                  </a:lnTo>
                  <a:lnTo>
                    <a:pt x="979528" y="191358"/>
                  </a:lnTo>
                  <a:lnTo>
                    <a:pt x="0" y="191358"/>
                  </a:lnTo>
                  <a:close/>
                </a:path>
              </a:pathLst>
            </a:custGeom>
            <a:solidFill>
              <a:srgbClr val="004E7A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71450"/>
              <a:ext cx="979528" cy="362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2100">
                  <a:solidFill>
                    <a:srgbClr val="FE6544"/>
                  </a:solidFill>
                  <a:latin typeface="Aileron"/>
                  <a:ea typeface="Aileron"/>
                  <a:cs typeface="Aileron"/>
                  <a:sym typeface="Aileron"/>
                </a:rPr>
                <a:t>Teste (fold)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4138291" y="3310575"/>
            <a:ext cx="2973437" cy="491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Repete (4 folds por ativo)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2830087" y="3642045"/>
            <a:ext cx="1051029" cy="0"/>
          </a:xfrm>
          <a:prstGeom prst="line">
            <a:avLst/>
          </a:prstGeom>
          <a:ln cap="flat" w="10477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8" id="18"/>
          <p:cNvSpPr txBox="true"/>
          <p:nvPr/>
        </p:nvSpPr>
        <p:spPr>
          <a:xfrm rot="0">
            <a:off x="4804691" y="4814475"/>
            <a:ext cx="11820674" cy="5292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Normalização (fit) apenas no bloco de treino de cada etapa</a:t>
            </a:r>
          </a:p>
          <a:p>
            <a:pPr algn="l" marL="906783" indent="-302261" lvl="2">
              <a:lnSpc>
                <a:spcPts val="4200"/>
              </a:lnSpc>
              <a:buFont typeface="Arial"/>
              <a:buChar char="⚬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scaler.fit(train)</a:t>
            </a:r>
          </a:p>
          <a:p>
            <a:pPr algn="l" marL="906783" indent="-302261" lvl="2">
              <a:lnSpc>
                <a:spcPts val="4200"/>
              </a:lnSpc>
              <a:buFont typeface="Arial"/>
              <a:buChar char="⚬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scaler.transform(test)</a:t>
            </a:r>
          </a:p>
          <a:p>
            <a:pPr algn="l" marL="453392" indent="-226696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Mesma regra para qualquer transformação dependente de dados (média, desvio, entre outras...)</a:t>
            </a:r>
          </a:p>
          <a:p>
            <a:pPr algn="l" marL="453392" indent="-226696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Pipeline automatizado (prepare_sequences.py)</a:t>
            </a:r>
          </a:p>
          <a:p>
            <a:pPr algn="l" marL="906783" indent="-302261" lvl="2">
              <a:lnSpc>
                <a:spcPts val="4200"/>
              </a:lnSpc>
              <a:buFont typeface="Arial"/>
              <a:buChar char="⚬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Separação</a:t>
            </a:r>
          </a:p>
          <a:p>
            <a:pPr algn="l" marL="906783" indent="-302261" lvl="2">
              <a:lnSpc>
                <a:spcPts val="4200"/>
              </a:lnSpc>
              <a:buFont typeface="Arial"/>
              <a:buChar char="⚬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Normalização</a:t>
            </a:r>
          </a:p>
          <a:p>
            <a:pPr algn="l" marL="906783" indent="-302261" lvl="2">
              <a:lnSpc>
                <a:spcPts val="4200"/>
              </a:lnSpc>
              <a:buFont typeface="Arial"/>
              <a:buChar char="⚬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Construção de janelas</a:t>
            </a:r>
          </a:p>
          <a:p>
            <a:pPr algn="l" marL="906783" indent="-302261" lvl="2">
              <a:lnSpc>
                <a:spcPts val="4200"/>
              </a:lnSpc>
              <a:buFont typeface="Arial"/>
              <a:buChar char="⚬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Rotulagem</a:t>
            </a:r>
          </a:p>
          <a:p>
            <a:pPr algn="l" marL="906783" indent="-302261" lvl="2">
              <a:lnSpc>
                <a:spcPts val="4200"/>
              </a:lnSpc>
              <a:buFont typeface="Arial"/>
              <a:buChar char="⚬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Split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804691" y="4410138"/>
            <a:ext cx="4653545" cy="35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39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Prevenção de data leakage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2290099"/>
            <a:ext cx="9054852" cy="491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Treino e teste avançam no tempo, simulando uso real e evitando vazamento.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2026285"/>
            <a:ext cx="8115300" cy="35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39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Walk-forward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1038225"/>
            <a:ext cx="11021561" cy="97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Metodologia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89512" y="313546"/>
            <a:ext cx="2146994" cy="2028909"/>
          </a:xfrm>
          <a:custGeom>
            <a:avLst/>
            <a:gdLst/>
            <a:ahLst/>
            <a:cxnLst/>
            <a:rect r="r" b="b" t="t" l="l"/>
            <a:pathLst>
              <a:path h="2028909" w="2146994">
                <a:moveTo>
                  <a:pt x="0" y="0"/>
                </a:moveTo>
                <a:lnTo>
                  <a:pt x="2146993" y="0"/>
                </a:lnTo>
                <a:lnTo>
                  <a:pt x="2146993" y="2028909"/>
                </a:lnTo>
                <a:lnTo>
                  <a:pt x="0" y="20289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2493821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Modelo proposto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555287" y="2285305"/>
            <a:ext cx="2215443" cy="577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9"/>
              </a:lnSpc>
            </a:pPr>
            <a:r>
              <a:rPr lang="en-US" sz="3471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Proposto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828246" y="2981405"/>
            <a:ext cx="1669524" cy="372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1"/>
              </a:lnSpc>
              <a:spcBef>
                <a:spcPct val="0"/>
              </a:spcBef>
            </a:pPr>
            <a:r>
              <a:rPr lang="en-US" sz="2272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CNN + LSTM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17617" y="9585725"/>
            <a:ext cx="8051347" cy="340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  <a:spcBef>
                <a:spcPct val="0"/>
              </a:spcBef>
            </a:pPr>
            <a:r>
              <a:rPr lang="en-US" sz="1988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Souza et al., 2022, Borovykh, Bohte &amp; Oosterlee, 2017, Ding &amp; Qin, 2020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821189" y="9707303"/>
            <a:ext cx="169515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9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41275" y="3852350"/>
            <a:ext cx="2747974" cy="2078368"/>
            <a:chOff x="0" y="0"/>
            <a:chExt cx="723746" cy="5473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23746" cy="547389"/>
            </a:xfrm>
            <a:custGeom>
              <a:avLst/>
              <a:gdLst/>
              <a:ahLst/>
              <a:cxnLst/>
              <a:rect r="r" b="b" t="t" l="l"/>
              <a:pathLst>
                <a:path h="547389" w="723746">
                  <a:moveTo>
                    <a:pt x="0" y="0"/>
                  </a:moveTo>
                  <a:lnTo>
                    <a:pt x="723746" y="0"/>
                  </a:lnTo>
                  <a:lnTo>
                    <a:pt x="723746" y="547389"/>
                  </a:lnTo>
                  <a:lnTo>
                    <a:pt x="0" y="547389"/>
                  </a:lnTo>
                  <a:close/>
                </a:path>
              </a:pathLst>
            </a:custGeom>
            <a:solidFill>
              <a:srgbClr val="00004D"/>
            </a:solidFill>
            <a:ln w="38100" cap="sq">
              <a:solidFill>
                <a:srgbClr val="2C2C6C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723746" cy="595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5F5F5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Entrada</a:t>
              </a:r>
            </a:p>
            <a:p>
              <a:pPr algn="ctr">
                <a:lnSpc>
                  <a:spcPts val="2660"/>
                </a:lnSpc>
              </a:pPr>
              <a:r>
                <a:rPr lang="en-US" sz="1900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60 x 12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354579" y="3852350"/>
            <a:ext cx="2747974" cy="2078368"/>
            <a:chOff x="0" y="0"/>
            <a:chExt cx="723746" cy="54738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23746" cy="547389"/>
            </a:xfrm>
            <a:custGeom>
              <a:avLst/>
              <a:gdLst/>
              <a:ahLst/>
              <a:cxnLst/>
              <a:rect r="r" b="b" t="t" l="l"/>
              <a:pathLst>
                <a:path h="547389" w="723746">
                  <a:moveTo>
                    <a:pt x="0" y="0"/>
                  </a:moveTo>
                  <a:lnTo>
                    <a:pt x="723746" y="0"/>
                  </a:lnTo>
                  <a:lnTo>
                    <a:pt x="723746" y="547389"/>
                  </a:lnTo>
                  <a:lnTo>
                    <a:pt x="0" y="547389"/>
                  </a:lnTo>
                  <a:close/>
                </a:path>
              </a:pathLst>
            </a:custGeom>
            <a:solidFill>
              <a:srgbClr val="00004D"/>
            </a:solidFill>
            <a:ln w="38100" cap="sq">
              <a:solidFill>
                <a:srgbClr val="2C2C6C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71450"/>
              <a:ext cx="723746" cy="718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2100" b="true">
                  <a:solidFill>
                    <a:srgbClr val="F5F5F5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Conv1D</a:t>
              </a:r>
            </a:p>
            <a:p>
              <a:pPr algn="ctr">
                <a:lnSpc>
                  <a:spcPts val="2660"/>
                </a:lnSpc>
              </a:pPr>
              <a:r>
                <a:rPr lang="en-US" sz="1900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64, k=2, ReLU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3689249" y="4891534"/>
            <a:ext cx="665330" cy="0"/>
          </a:xfrm>
          <a:prstGeom prst="line">
            <a:avLst/>
          </a:prstGeom>
          <a:ln cap="flat" w="10477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5" id="15"/>
          <p:cNvGrpSpPr/>
          <p:nvPr/>
        </p:nvGrpSpPr>
        <p:grpSpPr>
          <a:xfrm rot="0">
            <a:off x="7769303" y="3852350"/>
            <a:ext cx="2747974" cy="2078368"/>
            <a:chOff x="0" y="0"/>
            <a:chExt cx="723746" cy="54738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23746" cy="547389"/>
            </a:xfrm>
            <a:custGeom>
              <a:avLst/>
              <a:gdLst/>
              <a:ahLst/>
              <a:cxnLst/>
              <a:rect r="r" b="b" t="t" l="l"/>
              <a:pathLst>
                <a:path h="547389" w="723746">
                  <a:moveTo>
                    <a:pt x="0" y="0"/>
                  </a:moveTo>
                  <a:lnTo>
                    <a:pt x="723746" y="0"/>
                  </a:lnTo>
                  <a:lnTo>
                    <a:pt x="723746" y="547389"/>
                  </a:lnTo>
                  <a:lnTo>
                    <a:pt x="0" y="547389"/>
                  </a:lnTo>
                  <a:close/>
                </a:path>
              </a:pathLst>
            </a:custGeom>
            <a:solidFill>
              <a:srgbClr val="00004D"/>
            </a:solidFill>
            <a:ln w="38100" cap="sq">
              <a:solidFill>
                <a:srgbClr val="2C2C6C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723746" cy="595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5F5F5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MaxPool1D</a:t>
              </a:r>
            </a:p>
            <a:p>
              <a:pPr algn="ctr">
                <a:lnSpc>
                  <a:spcPts val="2660"/>
                </a:lnSpc>
              </a:pPr>
              <a:r>
                <a:rPr lang="en-US" sz="1900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pool = 2</a:t>
              </a:r>
            </a:p>
            <a:p>
              <a:pPr algn="ctr">
                <a:lnSpc>
                  <a:spcPts val="2660"/>
                </a:lnSpc>
              </a:pPr>
              <a:r>
                <a:rPr lang="en-US" sz="1900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reduz 60 -&gt; 30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7102553" y="4916648"/>
            <a:ext cx="665330" cy="0"/>
          </a:xfrm>
          <a:prstGeom prst="line">
            <a:avLst/>
          </a:prstGeom>
          <a:ln cap="flat" w="10477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9" id="19"/>
          <p:cNvGrpSpPr/>
          <p:nvPr/>
        </p:nvGrpSpPr>
        <p:grpSpPr>
          <a:xfrm rot="0">
            <a:off x="11184027" y="3852350"/>
            <a:ext cx="2747974" cy="2078368"/>
            <a:chOff x="0" y="0"/>
            <a:chExt cx="723746" cy="54738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3746" cy="547389"/>
            </a:xfrm>
            <a:custGeom>
              <a:avLst/>
              <a:gdLst/>
              <a:ahLst/>
              <a:cxnLst/>
              <a:rect r="r" b="b" t="t" l="l"/>
              <a:pathLst>
                <a:path h="547389" w="723746">
                  <a:moveTo>
                    <a:pt x="0" y="0"/>
                  </a:moveTo>
                  <a:lnTo>
                    <a:pt x="723746" y="0"/>
                  </a:lnTo>
                  <a:lnTo>
                    <a:pt x="723746" y="547389"/>
                  </a:lnTo>
                  <a:lnTo>
                    <a:pt x="0" y="547389"/>
                  </a:lnTo>
                  <a:close/>
                </a:path>
              </a:pathLst>
            </a:custGeom>
            <a:solidFill>
              <a:srgbClr val="00004D"/>
            </a:solidFill>
            <a:ln w="38100" cap="sq">
              <a:solidFill>
                <a:srgbClr val="2C2C6C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723746" cy="595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5F5F5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LSTM</a:t>
              </a:r>
            </a:p>
            <a:p>
              <a:pPr algn="ctr">
                <a:lnSpc>
                  <a:spcPts val="2660"/>
                </a:lnSpc>
              </a:pPr>
              <a:r>
                <a:rPr lang="en-US" sz="1900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50, dropout 0,2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10537380" y="4916648"/>
            <a:ext cx="665330" cy="0"/>
          </a:xfrm>
          <a:prstGeom prst="line">
            <a:avLst/>
          </a:prstGeom>
          <a:ln cap="flat" w="10477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3" id="23"/>
          <p:cNvGrpSpPr/>
          <p:nvPr/>
        </p:nvGrpSpPr>
        <p:grpSpPr>
          <a:xfrm rot="0">
            <a:off x="14598751" y="3877464"/>
            <a:ext cx="2747974" cy="2078368"/>
            <a:chOff x="0" y="0"/>
            <a:chExt cx="723746" cy="54738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23746" cy="547389"/>
            </a:xfrm>
            <a:custGeom>
              <a:avLst/>
              <a:gdLst/>
              <a:ahLst/>
              <a:cxnLst/>
              <a:rect r="r" b="b" t="t" l="l"/>
              <a:pathLst>
                <a:path h="547389" w="723746">
                  <a:moveTo>
                    <a:pt x="0" y="0"/>
                  </a:moveTo>
                  <a:lnTo>
                    <a:pt x="723746" y="0"/>
                  </a:lnTo>
                  <a:lnTo>
                    <a:pt x="723746" y="547389"/>
                  </a:lnTo>
                  <a:lnTo>
                    <a:pt x="0" y="547389"/>
                  </a:lnTo>
                  <a:close/>
                </a:path>
              </a:pathLst>
            </a:custGeom>
            <a:solidFill>
              <a:srgbClr val="00004D"/>
            </a:solidFill>
            <a:ln w="38100" cap="sq">
              <a:solidFill>
                <a:srgbClr val="2C2C6C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723746" cy="595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F5F5F5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Dense</a:t>
              </a:r>
            </a:p>
            <a:p>
              <a:pPr algn="ctr">
                <a:lnSpc>
                  <a:spcPts val="2660"/>
                </a:lnSpc>
              </a:pPr>
              <a:r>
                <a:rPr lang="en-US" sz="1900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Sigmoide</a:t>
              </a:r>
            </a:p>
            <a:p>
              <a:pPr algn="ctr">
                <a:lnSpc>
                  <a:spcPts val="2660"/>
                </a:lnSpc>
              </a:pPr>
              <a:r>
                <a:rPr lang="en-US" sz="1900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perto de 1 → alta</a:t>
              </a:r>
            </a:p>
            <a:p>
              <a:pPr algn="ctr">
                <a:lnSpc>
                  <a:spcPts val="2660"/>
                </a:lnSpc>
              </a:pPr>
              <a:r>
                <a:rPr lang="en-US" sz="1900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perto de 0 → baixa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>
            <a:off x="13930006" y="4891534"/>
            <a:ext cx="665330" cy="0"/>
          </a:xfrm>
          <a:prstGeom prst="line">
            <a:avLst/>
          </a:prstGeom>
          <a:ln cap="flat" w="10477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7" id="27"/>
          <p:cNvSpPr txBox="true"/>
          <p:nvPr/>
        </p:nvSpPr>
        <p:spPr>
          <a:xfrm rot="0">
            <a:off x="4985851" y="6782975"/>
            <a:ext cx="8314879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Conv1D com kernel=2 busca microtendências e reversões rápidas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Pooling reduz ruído e dimensionalidade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LSTM captura dependências de médio prazo (tendências/ciclos)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Saída é probabilidade contínua (útil para calibração/limiares)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026285"/>
            <a:ext cx="8115300" cy="35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39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Séries temporais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38225"/>
            <a:ext cx="11021561" cy="97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Avaliação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736505" y="9707303"/>
            <a:ext cx="33888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583684"/>
            <a:ext cx="5181302" cy="561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9"/>
              </a:lnSpc>
              <a:spcBef>
                <a:spcPct val="0"/>
              </a:spcBef>
            </a:pPr>
            <a:r>
              <a:rPr lang="en-US" b="true" sz="2439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Por que não olhar só para acurácia?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4764443"/>
            <a:ext cx="4185739" cy="2903435"/>
            <a:chOff x="0" y="0"/>
            <a:chExt cx="860160" cy="5966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0160" cy="596650"/>
            </a:xfrm>
            <a:custGeom>
              <a:avLst/>
              <a:gdLst/>
              <a:ahLst/>
              <a:cxnLst/>
              <a:rect r="r" b="b" t="t" l="l"/>
              <a:pathLst>
                <a:path h="596650" w="860160">
                  <a:moveTo>
                    <a:pt x="0" y="0"/>
                  </a:moveTo>
                  <a:lnTo>
                    <a:pt x="860160" y="0"/>
                  </a:lnTo>
                  <a:lnTo>
                    <a:pt x="860160" y="596650"/>
                  </a:lnTo>
                  <a:lnTo>
                    <a:pt x="0" y="596650"/>
                  </a:lnTo>
                  <a:close/>
                </a:path>
              </a:pathLst>
            </a:custGeom>
            <a:solidFill>
              <a:srgbClr val="00004D"/>
            </a:solidFill>
            <a:ln w="38100" cap="sq">
              <a:solidFill>
                <a:srgbClr val="2C2C6C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860160" cy="644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453392" indent="-226696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Acurácia direcional (com banda 0,1%)</a:t>
              </a:r>
            </a:p>
            <a:p>
              <a:pPr algn="l" marL="453392" indent="-226696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F1-Score</a:t>
              </a:r>
            </a:p>
            <a:p>
              <a:pPr algn="l" marL="453392" indent="-226696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MCC - correlação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718219" y="4764443"/>
            <a:ext cx="4185739" cy="2903435"/>
            <a:chOff x="0" y="0"/>
            <a:chExt cx="860160" cy="5966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0160" cy="596650"/>
            </a:xfrm>
            <a:custGeom>
              <a:avLst/>
              <a:gdLst/>
              <a:ahLst/>
              <a:cxnLst/>
              <a:rect r="r" b="b" t="t" l="l"/>
              <a:pathLst>
                <a:path h="596650" w="860160">
                  <a:moveTo>
                    <a:pt x="0" y="0"/>
                  </a:moveTo>
                  <a:lnTo>
                    <a:pt x="860160" y="0"/>
                  </a:lnTo>
                  <a:lnTo>
                    <a:pt x="860160" y="596650"/>
                  </a:lnTo>
                  <a:lnTo>
                    <a:pt x="0" y="596650"/>
                  </a:lnTo>
                  <a:close/>
                </a:path>
              </a:pathLst>
            </a:custGeom>
            <a:solidFill>
              <a:srgbClr val="00004D"/>
            </a:solidFill>
            <a:ln w="38100" cap="sq">
              <a:solidFill>
                <a:srgbClr val="2C2C6C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860160" cy="644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453392" indent="-226696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Brier Score</a:t>
              </a:r>
            </a:p>
            <a:p>
              <a:pPr algn="l" marL="453392" indent="-226696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Log-Loss</a:t>
              </a:r>
            </a:p>
            <a:p>
              <a:pPr algn="l" marL="453392" indent="-226696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Calibração (confiabilidade)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408907" y="4764443"/>
            <a:ext cx="4185739" cy="2903435"/>
            <a:chOff x="0" y="0"/>
            <a:chExt cx="860160" cy="5966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0160" cy="596650"/>
            </a:xfrm>
            <a:custGeom>
              <a:avLst/>
              <a:gdLst/>
              <a:ahLst/>
              <a:cxnLst/>
              <a:rect r="r" b="b" t="t" l="l"/>
              <a:pathLst>
                <a:path h="596650" w="860160">
                  <a:moveTo>
                    <a:pt x="0" y="0"/>
                  </a:moveTo>
                  <a:lnTo>
                    <a:pt x="860160" y="0"/>
                  </a:lnTo>
                  <a:lnTo>
                    <a:pt x="860160" y="596650"/>
                  </a:lnTo>
                  <a:lnTo>
                    <a:pt x="0" y="596650"/>
                  </a:lnTo>
                  <a:close/>
                </a:path>
              </a:pathLst>
            </a:custGeom>
            <a:solidFill>
              <a:srgbClr val="00004D"/>
            </a:solidFill>
            <a:ln w="38100" cap="sq">
              <a:solidFill>
                <a:srgbClr val="2C2C6C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860160" cy="644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453392" indent="-226696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Retorno líquido</a:t>
              </a:r>
            </a:p>
            <a:p>
              <a:pPr algn="l" marL="453392" indent="-226696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Sharpe</a:t>
              </a:r>
            </a:p>
            <a:p>
              <a:pPr algn="l" marL="453392" indent="-226696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Max Drawdown</a:t>
              </a:r>
            </a:p>
            <a:p>
              <a:pPr algn="l" marL="453392" indent="-226696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Profit factor</a:t>
              </a:r>
            </a:p>
            <a:p>
              <a:pPr algn="l" marL="453392" indent="-226696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Nº de operações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115775" y="4027419"/>
            <a:ext cx="2011589" cy="61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2"/>
              </a:lnSpc>
              <a:spcBef>
                <a:spcPct val="0"/>
              </a:spcBef>
            </a:pPr>
            <a:r>
              <a:rPr lang="en-US" sz="2691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Classificação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57944" y="4027419"/>
            <a:ext cx="2306288" cy="61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2"/>
              </a:lnSpc>
              <a:spcBef>
                <a:spcPct val="0"/>
              </a:spcBef>
            </a:pPr>
            <a:r>
              <a:rPr lang="en-US" sz="2691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Probabilidades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42920" y="4027419"/>
            <a:ext cx="3117714" cy="61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2"/>
              </a:lnSpc>
              <a:spcBef>
                <a:spcPct val="0"/>
              </a:spcBef>
            </a:pPr>
            <a:r>
              <a:rPr lang="en-US" sz="2691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Trading (pós custos)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2973955"/>
            <a:ext cx="11551593" cy="491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Acurácia isolada pode esconder desbalanceamento e “colapso” (prever sempre a mesma classe).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555571" y="8766811"/>
            <a:ext cx="8511034" cy="491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Significância: teste de Diebold–Mariano (perda direcional e perda Brier).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24462" y="23962"/>
            <a:ext cx="10239077" cy="1023907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327276" y="2359923"/>
            <a:ext cx="7633449" cy="5567153"/>
          </a:xfrm>
          <a:custGeom>
            <a:avLst/>
            <a:gdLst/>
            <a:ahLst/>
            <a:cxnLst/>
            <a:rect r="r" b="b" t="t" l="l"/>
            <a:pathLst>
              <a:path h="5567153" w="7633449">
                <a:moveTo>
                  <a:pt x="0" y="0"/>
                </a:moveTo>
                <a:lnTo>
                  <a:pt x="7633448" y="0"/>
                </a:lnTo>
                <a:lnTo>
                  <a:pt x="7633448" y="5567154"/>
                </a:lnTo>
                <a:lnTo>
                  <a:pt x="0" y="55671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026285"/>
            <a:ext cx="8115300" cy="35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39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Visão geral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038225"/>
            <a:ext cx="11021561" cy="97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Resultados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736505" y="9707303"/>
            <a:ext cx="33888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11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27276" y="8222352"/>
            <a:ext cx="7633449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M</a:t>
            </a: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odelo emite probabilidades quase constantes para todas as amostras de teste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Explica o colapso de classe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99665" y="-1673755"/>
            <a:ext cx="10239077" cy="1023907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31763" y="428264"/>
            <a:ext cx="7574880" cy="6035037"/>
          </a:xfrm>
          <a:custGeom>
            <a:avLst/>
            <a:gdLst/>
            <a:ahLst/>
            <a:cxnLst/>
            <a:rect r="r" b="b" t="t" l="l"/>
            <a:pathLst>
              <a:path h="6035037" w="7574880">
                <a:moveTo>
                  <a:pt x="0" y="0"/>
                </a:moveTo>
                <a:lnTo>
                  <a:pt x="7574880" y="0"/>
                </a:lnTo>
                <a:lnTo>
                  <a:pt x="7574880" y="6035038"/>
                </a:lnTo>
                <a:lnTo>
                  <a:pt x="0" y="60350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026285"/>
            <a:ext cx="8115300" cy="35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39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Estabilidade e colapso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038225"/>
            <a:ext cx="11021561" cy="97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Resultados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736505" y="9707303"/>
            <a:ext cx="33888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12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054437"/>
            <a:ext cx="7633449" cy="259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Possíveis causas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Sina</a:t>
            </a: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l fraco e muito ruído em retornos de 15 min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Mínimo local da função de perda perto de 0,5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Arquitetura simples (Conv→Pool→LSTM) pode limitar capacidade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Treino efetivo: ~7.000 barras/ano, 12 features e janelas de 60 passos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735927"/>
            <a:ext cx="7633449" cy="296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Evidências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10 de 12 folds: previsão quase sempre de uma única direção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MCC = 0,000 em 10/12 folds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Desvio-padrão das probabilidades muito baixo: 0,002 a 0,012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Pouquíssimas operações no backtest (muitos folds com 0 ou 1 operação)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99665" y="-1673755"/>
            <a:ext cx="10239077" cy="1023907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48980" y="515342"/>
            <a:ext cx="8540447" cy="5860882"/>
          </a:xfrm>
          <a:custGeom>
            <a:avLst/>
            <a:gdLst/>
            <a:ahLst/>
            <a:cxnLst/>
            <a:rect r="r" b="b" t="t" l="l"/>
            <a:pathLst>
              <a:path h="5860882" w="8540447">
                <a:moveTo>
                  <a:pt x="0" y="0"/>
                </a:moveTo>
                <a:lnTo>
                  <a:pt x="8540447" y="0"/>
                </a:lnTo>
                <a:lnTo>
                  <a:pt x="8540447" y="5860882"/>
                </a:lnTo>
                <a:lnTo>
                  <a:pt x="0" y="58608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026285"/>
            <a:ext cx="8115300" cy="35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39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Significância estatística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038225"/>
            <a:ext cx="11021561" cy="97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Resultados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736505" y="9707303"/>
            <a:ext cx="33888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13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26145" y="5311487"/>
            <a:ext cx="7633449" cy="259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DM com perda Brier (probabilidades)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Em</a:t>
            </a: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 todos os 12 pares, p &lt; 0,001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Interpretação: CNN–LSTM emite probabilidades próximas de 0,5 → Brier ≈ 0,25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Baselines binários (0/1), errando ~50% → Brier médio ≈ 0,50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Significância aqui reflete “forma da saída” mais do que poder preditivo direcional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735927"/>
            <a:ext cx="7633449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Perda direcional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Nenhuma comparação ficou abaixo de 5% (p &lt; 0,05)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Mais próximo: PETR4 vs Prophet (p = 0,071) → evidência fraca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Diferenças de perda existem, mas são pequenas (ordem de 0,001 a 0,033)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41418" y="2690756"/>
            <a:ext cx="8605163" cy="2366420"/>
          </a:xfrm>
          <a:custGeom>
            <a:avLst/>
            <a:gdLst/>
            <a:ahLst/>
            <a:cxnLst/>
            <a:rect r="r" b="b" t="t" l="l"/>
            <a:pathLst>
              <a:path h="2366420" w="8605163">
                <a:moveTo>
                  <a:pt x="0" y="0"/>
                </a:moveTo>
                <a:lnTo>
                  <a:pt x="8605164" y="0"/>
                </a:lnTo>
                <a:lnTo>
                  <a:pt x="8605164" y="2366419"/>
                </a:lnTo>
                <a:lnTo>
                  <a:pt x="0" y="23664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997853" y="5733450"/>
            <a:ext cx="10292293" cy="2966251"/>
          </a:xfrm>
          <a:custGeom>
            <a:avLst/>
            <a:gdLst/>
            <a:ahLst/>
            <a:cxnLst/>
            <a:rect r="r" b="b" t="t" l="l"/>
            <a:pathLst>
              <a:path h="2966251" w="10292293">
                <a:moveTo>
                  <a:pt x="0" y="0"/>
                </a:moveTo>
                <a:lnTo>
                  <a:pt x="10292294" y="0"/>
                </a:lnTo>
                <a:lnTo>
                  <a:pt x="10292294" y="2966251"/>
                </a:lnTo>
                <a:lnTo>
                  <a:pt x="0" y="29662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026285"/>
            <a:ext cx="8115300" cy="35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39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Backtests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038225"/>
            <a:ext cx="11021561" cy="97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Resultados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736505" y="9707303"/>
            <a:ext cx="33888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14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861626"/>
            <a:ext cx="16230600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Leitura: PETR4 em long/short se destaca, mas o resultado se concentra no fold 1; em muitos folds há poucas (ou nenhuma) operações, coerente com colapso de probabilidades.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25212" y="2166468"/>
            <a:ext cx="9778603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Custos: 0,03% (emolumentos) + 0,05% (slippage); capital inicial R$ 100.000.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026285"/>
            <a:ext cx="8115300" cy="35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39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Arquitetura pensada para quem quiser replicar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38225"/>
            <a:ext cx="11021561" cy="97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Reprodutibilidade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736505" y="9707303"/>
            <a:ext cx="33888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15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160428" y="3476181"/>
            <a:ext cx="2089928" cy="2078368"/>
            <a:chOff x="0" y="0"/>
            <a:chExt cx="550434" cy="5473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0434" cy="547389"/>
            </a:xfrm>
            <a:custGeom>
              <a:avLst/>
              <a:gdLst/>
              <a:ahLst/>
              <a:cxnLst/>
              <a:rect r="r" b="b" t="t" l="l"/>
              <a:pathLst>
                <a:path h="547389" w="550434">
                  <a:moveTo>
                    <a:pt x="0" y="0"/>
                  </a:moveTo>
                  <a:lnTo>
                    <a:pt x="550434" y="0"/>
                  </a:lnTo>
                  <a:lnTo>
                    <a:pt x="550434" y="547389"/>
                  </a:lnTo>
                  <a:lnTo>
                    <a:pt x="0" y="547389"/>
                  </a:lnTo>
                  <a:close/>
                </a:path>
              </a:pathLst>
            </a:custGeom>
            <a:solidFill>
              <a:srgbClr val="00004D"/>
            </a:solidFill>
            <a:ln w="38100" cap="sq">
              <a:solidFill>
                <a:srgbClr val="2C2C6C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71450"/>
              <a:ext cx="550434" cy="718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2100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Preparo 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3650890" y="4515365"/>
            <a:ext cx="509539" cy="0"/>
          </a:xfrm>
          <a:prstGeom prst="line">
            <a:avLst/>
          </a:prstGeom>
          <a:ln cap="flat" w="1047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6775572" y="3476181"/>
            <a:ext cx="2104518" cy="2078368"/>
            <a:chOff x="0" y="0"/>
            <a:chExt cx="554276" cy="5473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54276" cy="547389"/>
            </a:xfrm>
            <a:custGeom>
              <a:avLst/>
              <a:gdLst/>
              <a:ahLst/>
              <a:cxnLst/>
              <a:rect r="r" b="b" t="t" l="l"/>
              <a:pathLst>
                <a:path h="547389" w="554276">
                  <a:moveTo>
                    <a:pt x="0" y="0"/>
                  </a:moveTo>
                  <a:lnTo>
                    <a:pt x="554276" y="0"/>
                  </a:lnTo>
                  <a:lnTo>
                    <a:pt x="554276" y="547389"/>
                  </a:lnTo>
                  <a:lnTo>
                    <a:pt x="0" y="547389"/>
                  </a:lnTo>
                  <a:close/>
                </a:path>
              </a:pathLst>
            </a:custGeom>
            <a:solidFill>
              <a:srgbClr val="00004D"/>
            </a:solidFill>
            <a:ln w="38100" cap="sq">
              <a:solidFill>
                <a:srgbClr val="2C2C6C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54276" cy="585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  <a:r>
                <a:rPr lang="en-US" sz="1900" b="true">
                  <a:solidFill>
                    <a:srgbClr val="F5F5F5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Walk‑f</a:t>
              </a:r>
              <a:r>
                <a:rPr lang="en-US" sz="1900" b="true">
                  <a:solidFill>
                    <a:srgbClr val="F5F5F5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orward </a:t>
              </a:r>
            </a:p>
            <a:p>
              <a:pPr algn="ctr">
                <a:lnSpc>
                  <a:spcPts val="2660"/>
                </a:lnSpc>
              </a:pPr>
              <a:r>
                <a:rPr lang="en-US" sz="1900" b="true">
                  <a:solidFill>
                    <a:srgbClr val="F5F5F5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+ </a:t>
              </a:r>
            </a:p>
            <a:p>
              <a:pPr algn="ctr">
                <a:lnSpc>
                  <a:spcPts val="2660"/>
                </a:lnSpc>
              </a:pPr>
              <a:r>
                <a:rPr lang="en-US" b="true" sz="1900">
                  <a:solidFill>
                    <a:srgbClr val="F5F5F5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Treino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6264946" y="4540479"/>
            <a:ext cx="509539" cy="0"/>
          </a:xfrm>
          <a:prstGeom prst="line">
            <a:avLst/>
          </a:prstGeom>
          <a:ln cap="flat" w="1047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9390716" y="3476181"/>
            <a:ext cx="2104518" cy="2078368"/>
            <a:chOff x="0" y="0"/>
            <a:chExt cx="554276" cy="54738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54276" cy="547389"/>
            </a:xfrm>
            <a:custGeom>
              <a:avLst/>
              <a:gdLst/>
              <a:ahLst/>
              <a:cxnLst/>
              <a:rect r="r" b="b" t="t" l="l"/>
              <a:pathLst>
                <a:path h="547389" w="554276">
                  <a:moveTo>
                    <a:pt x="0" y="0"/>
                  </a:moveTo>
                  <a:lnTo>
                    <a:pt x="554276" y="0"/>
                  </a:lnTo>
                  <a:lnTo>
                    <a:pt x="554276" y="547389"/>
                  </a:lnTo>
                  <a:lnTo>
                    <a:pt x="0" y="547389"/>
                  </a:lnTo>
                  <a:close/>
                </a:path>
              </a:pathLst>
            </a:custGeom>
            <a:solidFill>
              <a:srgbClr val="00004D"/>
            </a:solidFill>
            <a:ln w="38100" cap="sq">
              <a:solidFill>
                <a:srgbClr val="2C2C6C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54276" cy="585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  <a:r>
                <a:rPr lang="en-US" b="true" sz="1900">
                  <a:solidFill>
                    <a:srgbClr val="F5F5F5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Métricas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8895485" y="4540479"/>
            <a:ext cx="509539" cy="0"/>
          </a:xfrm>
          <a:prstGeom prst="line">
            <a:avLst/>
          </a:prstGeom>
          <a:ln cap="flat" w="1047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2005860" y="3501295"/>
            <a:ext cx="2104518" cy="2078368"/>
            <a:chOff x="0" y="0"/>
            <a:chExt cx="554276" cy="54738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4276" cy="547389"/>
            </a:xfrm>
            <a:custGeom>
              <a:avLst/>
              <a:gdLst/>
              <a:ahLst/>
              <a:cxnLst/>
              <a:rect r="r" b="b" t="t" l="l"/>
              <a:pathLst>
                <a:path h="547389" w="554276">
                  <a:moveTo>
                    <a:pt x="0" y="0"/>
                  </a:moveTo>
                  <a:lnTo>
                    <a:pt x="554276" y="0"/>
                  </a:lnTo>
                  <a:lnTo>
                    <a:pt x="554276" y="547389"/>
                  </a:lnTo>
                  <a:lnTo>
                    <a:pt x="0" y="547389"/>
                  </a:lnTo>
                  <a:close/>
                </a:path>
              </a:pathLst>
            </a:custGeom>
            <a:solidFill>
              <a:srgbClr val="00004D"/>
            </a:solidFill>
            <a:ln w="38100" cap="sq">
              <a:solidFill>
                <a:srgbClr val="2C2C6C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54276" cy="585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  <a:r>
                <a:rPr lang="en-US" b="true" sz="1900">
                  <a:solidFill>
                    <a:srgbClr val="F5F5F5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B</a:t>
              </a:r>
              <a:r>
                <a:rPr lang="en-US" b="true" sz="1900">
                  <a:solidFill>
                    <a:srgbClr val="F5F5F5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acktests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11493706" y="4515365"/>
            <a:ext cx="509539" cy="0"/>
          </a:xfrm>
          <a:prstGeom prst="line">
            <a:avLst/>
          </a:prstGeom>
          <a:ln cap="flat" w="1047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14598758" y="3476181"/>
            <a:ext cx="2104518" cy="2078368"/>
            <a:chOff x="0" y="0"/>
            <a:chExt cx="554276" cy="54738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54276" cy="547389"/>
            </a:xfrm>
            <a:custGeom>
              <a:avLst/>
              <a:gdLst/>
              <a:ahLst/>
              <a:cxnLst/>
              <a:rect r="r" b="b" t="t" l="l"/>
              <a:pathLst>
                <a:path h="547389" w="554276">
                  <a:moveTo>
                    <a:pt x="0" y="0"/>
                  </a:moveTo>
                  <a:lnTo>
                    <a:pt x="554276" y="0"/>
                  </a:lnTo>
                  <a:lnTo>
                    <a:pt x="554276" y="547389"/>
                  </a:lnTo>
                  <a:lnTo>
                    <a:pt x="0" y="547389"/>
                  </a:lnTo>
                  <a:close/>
                </a:path>
              </a:pathLst>
            </a:custGeom>
            <a:solidFill>
              <a:srgbClr val="00004D"/>
            </a:solidFill>
            <a:ln w="38100" cap="sq">
              <a:solidFill>
                <a:srgbClr val="2C2C6C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54276" cy="585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  <a:r>
                <a:rPr lang="en-US" b="true" sz="1900">
                  <a:solidFill>
                    <a:srgbClr val="F5F5F5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T</a:t>
              </a:r>
              <a:r>
                <a:rPr lang="en-US" b="true" sz="1900">
                  <a:solidFill>
                    <a:srgbClr val="F5F5F5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estes DM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>
            <a:off x="14089219" y="4515365"/>
            <a:ext cx="509539" cy="0"/>
          </a:xfrm>
          <a:prstGeom prst="line">
            <a:avLst/>
          </a:prstGeom>
          <a:ln cap="flat" w="1047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584725" y="3476181"/>
            <a:ext cx="2089928" cy="2078368"/>
            <a:chOff x="0" y="0"/>
            <a:chExt cx="550434" cy="54738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50434" cy="547389"/>
            </a:xfrm>
            <a:custGeom>
              <a:avLst/>
              <a:gdLst/>
              <a:ahLst/>
              <a:cxnLst/>
              <a:rect r="r" b="b" t="t" l="l"/>
              <a:pathLst>
                <a:path h="547389" w="550434">
                  <a:moveTo>
                    <a:pt x="0" y="0"/>
                  </a:moveTo>
                  <a:lnTo>
                    <a:pt x="550434" y="0"/>
                  </a:lnTo>
                  <a:lnTo>
                    <a:pt x="550434" y="547389"/>
                  </a:lnTo>
                  <a:lnTo>
                    <a:pt x="0" y="547389"/>
                  </a:lnTo>
                  <a:close/>
                </a:path>
              </a:pathLst>
            </a:custGeom>
            <a:solidFill>
              <a:srgbClr val="00004D"/>
            </a:solidFill>
            <a:ln w="38100" cap="sq">
              <a:solidFill>
                <a:srgbClr val="2C2C6C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171450"/>
              <a:ext cx="550434" cy="718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2100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Dados brutos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703528" y="7039084"/>
            <a:ext cx="6880943" cy="842198"/>
            <a:chOff x="0" y="0"/>
            <a:chExt cx="1812265" cy="22181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12265" cy="221813"/>
            </a:xfrm>
            <a:custGeom>
              <a:avLst/>
              <a:gdLst/>
              <a:ahLst/>
              <a:cxnLst/>
              <a:rect r="r" b="b" t="t" l="l"/>
              <a:pathLst>
                <a:path h="221813" w="1812265">
                  <a:moveTo>
                    <a:pt x="0" y="0"/>
                  </a:moveTo>
                  <a:lnTo>
                    <a:pt x="1812265" y="0"/>
                  </a:lnTo>
                  <a:lnTo>
                    <a:pt x="1812265" y="221813"/>
                  </a:lnTo>
                  <a:lnTo>
                    <a:pt x="0" y="221813"/>
                  </a:lnTo>
                  <a:close/>
                </a:path>
              </a:pathLst>
            </a:custGeom>
            <a:solidFill>
              <a:srgbClr val="00004D"/>
            </a:solidFill>
            <a:ln w="38100" cap="sq">
              <a:solidFill>
                <a:srgbClr val="2C2C6C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171450"/>
              <a:ext cx="1812265" cy="393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2100">
                  <a:solidFill>
                    <a:srgbClr val="F5F5F5"/>
                  </a:solidFill>
                  <a:latin typeface="Aileron"/>
                  <a:ea typeface="Aileron"/>
                  <a:cs typeface="Aileron"/>
                  <a:sym typeface="Aileron"/>
                </a:rPr>
                <a:t>rodar_pipeline_completo.sh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>
            <a:off x="12584472" y="7460183"/>
            <a:ext cx="3066545" cy="0"/>
          </a:xfrm>
          <a:prstGeom prst="line">
            <a:avLst/>
          </a:prstGeom>
          <a:ln cap="flat" w="1047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V="true">
            <a:off x="15651017" y="5554549"/>
            <a:ext cx="0" cy="1958449"/>
          </a:xfrm>
          <a:prstGeom prst="line">
            <a:avLst/>
          </a:prstGeom>
          <a:ln cap="flat" w="10477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4" id="34"/>
          <p:cNvSpPr/>
          <p:nvPr/>
        </p:nvSpPr>
        <p:spPr>
          <a:xfrm>
            <a:off x="2636983" y="7460183"/>
            <a:ext cx="3066545" cy="0"/>
          </a:xfrm>
          <a:prstGeom prst="line">
            <a:avLst/>
          </a:prstGeom>
          <a:ln cap="flat" w="1047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 flipV="true">
            <a:off x="2689371" y="5554549"/>
            <a:ext cx="0" cy="1958449"/>
          </a:xfrm>
          <a:prstGeom prst="line">
            <a:avLst/>
          </a:prstGeom>
          <a:ln cap="flat" w="10477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6" id="36"/>
          <p:cNvSpPr txBox="true"/>
          <p:nvPr/>
        </p:nvSpPr>
        <p:spPr>
          <a:xfrm rot="0">
            <a:off x="5091410" y="7936288"/>
            <a:ext cx="7401669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Um script, mesma ordem sempre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Backup automático de artefatos por execução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Logs em logs/pipeline/ para rastrear cada rodada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Código isolado:</a:t>
            </a:r>
          </a:p>
          <a:p>
            <a:pPr algn="l" marL="906780" indent="-302260" lvl="2">
              <a:lnSpc>
                <a:spcPts val="2940"/>
              </a:lnSpc>
              <a:buFont typeface="Arial"/>
              <a:buChar char="⚬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https://github.com/rafaelmelo2/TCC/tree/pipeline-only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98791" y="-6020221"/>
            <a:ext cx="10605956" cy="1060595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567633" y="749588"/>
            <a:ext cx="2691667" cy="2422500"/>
          </a:xfrm>
          <a:custGeom>
            <a:avLst/>
            <a:gdLst/>
            <a:ahLst/>
            <a:cxnLst/>
            <a:rect r="r" b="b" t="t" l="l"/>
            <a:pathLst>
              <a:path h="2422500" w="2691667">
                <a:moveTo>
                  <a:pt x="0" y="0"/>
                </a:moveTo>
                <a:lnTo>
                  <a:pt x="2691667" y="0"/>
                </a:lnTo>
                <a:lnTo>
                  <a:pt x="2691667" y="2422500"/>
                </a:lnTo>
                <a:lnTo>
                  <a:pt x="0" y="2422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01657" y="2596620"/>
            <a:ext cx="10997134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CNN–LSTM teve ganhos pontuais em acurácia, mas não consistentes nas demais métricas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MCC ~ 0 e colapso de classe indicam baixa discriminação estável ao longo do tempo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Backtests pós-custos mostram resultado frágil e dependente de poucos períodos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Maior contribuição: protocolo reprodutível e avaliação realista (anti-leakage + DM + custos)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038225"/>
            <a:ext cx="14237908" cy="97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Conclusões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380390"/>
            <a:ext cx="9357717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A n</a:t>
            </a: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ecessidade de validação temporal rigorosa (walk-forward + embargo)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A importância de comparar com baselines sob o mesmo desenho experimental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736505" y="9707303"/>
            <a:ext cx="33888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16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1657" y="5789177"/>
            <a:ext cx="8115300" cy="35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39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O que não invalida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98791" y="-6020221"/>
            <a:ext cx="10605956" cy="1060595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434774" y="445396"/>
            <a:ext cx="2824526" cy="3142727"/>
          </a:xfrm>
          <a:custGeom>
            <a:avLst/>
            <a:gdLst/>
            <a:ahLst/>
            <a:cxnLst/>
            <a:rect r="r" b="b" t="t" l="l"/>
            <a:pathLst>
              <a:path h="3142727" w="2824526">
                <a:moveTo>
                  <a:pt x="0" y="0"/>
                </a:moveTo>
                <a:lnTo>
                  <a:pt x="2824526" y="0"/>
                </a:lnTo>
                <a:lnTo>
                  <a:pt x="2824526" y="3142728"/>
                </a:lnTo>
                <a:lnTo>
                  <a:pt x="0" y="31427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038225"/>
            <a:ext cx="14237908" cy="97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Trabalhos futuros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736505" y="9707303"/>
            <a:ext cx="33888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17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174240"/>
            <a:ext cx="9272290" cy="459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460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M</a:t>
            </a: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esmo protocolo de avaliação; só trocar o modelo.</a:t>
            </a:r>
          </a:p>
          <a:p>
            <a:pPr algn="l" marL="496571" indent="-248285" lvl="1">
              <a:lnSpc>
                <a:spcPts val="460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Penalizar no treino a tendência de prever sempre a mesma classe.</a:t>
            </a:r>
          </a:p>
          <a:p>
            <a:pPr algn="l" marL="496571" indent="-248285" lvl="1">
              <a:lnSpc>
                <a:spcPts val="460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Limia</a:t>
            </a: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r e tamanho da posição variando com regime e probabilidade.</a:t>
            </a:r>
          </a:p>
          <a:p>
            <a:pPr algn="l" marL="496571" indent="-248285" lvl="1">
              <a:lnSpc>
                <a:spcPts val="460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Testar outros lookbacks, horizontes e regras de rótulo.</a:t>
            </a:r>
          </a:p>
          <a:p>
            <a:pPr algn="l" marL="496571" indent="-248285" lvl="1">
              <a:lnSpc>
                <a:spcPts val="460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Focal Loss ou perdas com entropia para evitar colapso de classe.</a:t>
            </a:r>
          </a:p>
          <a:p>
            <a:pPr algn="l" marL="496571" indent="-248285" lvl="1">
              <a:lnSpc>
                <a:spcPts val="460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Mais ativos e mercados para ver se o resultado generaliza.</a:t>
            </a:r>
          </a:p>
          <a:p>
            <a:pPr algn="l" marL="496571" indent="-248285" lvl="1">
              <a:lnSpc>
                <a:spcPts val="460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Barras maiores (30 min, 1 h) para menos ruído e melhor sinal/ruído.</a:t>
            </a:r>
          </a:p>
          <a:p>
            <a:pPr algn="l">
              <a:lnSpc>
                <a:spcPts val="4600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41022" y="-159478"/>
            <a:ext cx="10605956" cy="1060595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797554" y="4658995"/>
            <a:ext cx="4692893" cy="97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Obrigado 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736505" y="9707303"/>
            <a:ext cx="33888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DAHBtbvy7Rg</dc:identifier>
  <dcterms:modified xsi:type="dcterms:W3CDTF">2011-08-01T06:04:30Z</dcterms:modified>
  <cp:revision>1</cp:revision>
  <dc:title>PFC2_Predição Automática de Indicativos Financeiros para Bolsa de Valores Considerando o Aspecto Temporal</dc:title>
</cp:coreProperties>
</file>