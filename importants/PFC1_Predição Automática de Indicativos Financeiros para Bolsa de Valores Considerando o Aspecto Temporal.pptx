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Garet" charset="1" panose="00000000000000000000"/>
      <p:regular r:id="rId33"/>
    </p:embeddedFont>
    <p:embeddedFont>
      <p:font typeface="Aileron" charset="1" panose="00000500000000000000"/>
      <p:regular r:id="rId34"/>
    </p:embeddedFont>
    <p:embeddedFont>
      <p:font typeface="Garet Bold" charset="1" panose="00000000000000000000"/>
      <p:regular r:id="rId36"/>
    </p:embeddedFont>
    <p:embeddedFont>
      <p:font typeface="Aileron Italics" charset="1" panose="00000500000000000000"/>
      <p:regular r:id="rId45"/>
    </p:embeddedFont>
    <p:embeddedFont>
      <p:font typeface="Aileron Bold" charset="1" panose="000008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fonts/font45.fntdata" Type="http://schemas.openxmlformats.org/officeDocument/2006/relationships/font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notesSlides/notesSlide15.xml" Type="http://schemas.openxmlformats.org/officeDocument/2006/relationships/notesSlide"/><Relationship Id="rId52" Target="notesSlides/notesSlide16.xml" Type="http://schemas.openxmlformats.org/officeDocument/2006/relationships/notesSlide"/><Relationship Id="rId53" Target="notesSlides/notesSlide17.xml" Type="http://schemas.openxmlformats.org/officeDocument/2006/relationships/notesSlide"/><Relationship Id="rId54" Target="notesSlides/notesSlide18.xml" Type="http://schemas.openxmlformats.org/officeDocument/2006/relationships/notesSlide"/><Relationship Id="rId55" Target="notesSlides/notesSlide19.xml" Type="http://schemas.openxmlformats.org/officeDocument/2006/relationships/notesSlide"/><Relationship Id="rId56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Então aqui está roteiro que vou seguir.</a:t>
            </a:r>
          </a:p>
          <a:p>
            <a:r>
              <a:rPr lang="en-US"/>
              <a:t/>
            </a:r>
          </a:p>
          <a:p>
            <a:r>
              <a:rPr lang="en-US"/>
              <a:t>Justificar o problema....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Situando o problema no mercado brasileiro e por que isso importa hoje.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Temos também os indicadores técnicos de uma bolsa de valores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Dado esse cenário de volatilidade e incerteza, qual é o impacto esperado e a oportunidade deste projeto?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Transformamos essa lacuna em uma pergunta direta que guia todo o trabalho.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responder com rigor, alinhamos rapidamente os conceitos-chave que vou usar.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os termos no lugar, passo ao pano de fundo das séries temporais e seus padrões.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Os modelos clássicos são úteis, mas têm limites neste contexto; por isso avançamos para abordagens mais recentes.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avanço motiva nossos objetivos: explorar um híbrido temporal para indicativos financeiros, com foco em robustez e validação correta.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Para manter viabilidade e reprodutibilidade, definimos um recorte claro de ativos, horizontes e período, além do protocolo de validação.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Esse recorte dialoga com estudos correlatos que embasam nossas escolhas e reforçam a relevância.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Saindo da teoria para o plano de execução: começo pelos dados e como serão preparados.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os dados saneados e normalizados, apresento a arquitetura proposta e a lógica por trás do híbrido.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Modelo sem teste vira promessa; aqui está como vamos avaliar robustez e aderência prática (inclui backtests).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 para quantificar esse desempenho, usamos métricas preditivas e de trading que capturam risco e retorno.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Traduzindo tudo em execução: estas são as etapas e entregáveis até PFC2.”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Todo o planejamento está ancorado em fontes que orientaram as decisões metodológicas e de avaliação.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Retomando: apresentamos contexto, pergunta, método e plano. Abro para perguntas e alinhamentos finais.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 isso concluo a apresentação. Agradeço a atenção de todos. Estou à disposição para perguntas e contribuições.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3.png" Type="http://schemas.openxmlformats.org/officeDocument/2006/relationships/image"/><Relationship Id="rId4" Target="../media/image3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51.png" Type="http://schemas.openxmlformats.org/officeDocument/2006/relationships/image"/><Relationship Id="rId8" Target="../media/image52.sv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7.png" Type="http://schemas.openxmlformats.org/officeDocument/2006/relationships/image"/><Relationship Id="rId4" Target="../media/image5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61.png" Type="http://schemas.openxmlformats.org/officeDocument/2006/relationships/image"/><Relationship Id="rId4" Target="../media/image6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63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://www.planalto.gov.br/ccivil_03/leis/l6385.htm?utm_source=chatgpt.com" TargetMode="External" Type="http://schemas.openxmlformats.org/officeDocument/2006/relationships/hyperlink"/><Relationship Id="rId5" Target="http://www.planalto.gov.br/ccivil_03/leis/l6404consol.htm?utm_source=chatgpt.com" TargetMode="External" Type="http://schemas.openxmlformats.org/officeDocument/2006/relationships/hyperlink"/><Relationship Id="rId6" Target="https://www.b3.com.br/?utm_source=chatgpt.com" TargetMode="External" Type="http://schemas.openxmlformats.org/officeDocument/2006/relationships/hyperlink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2279" y="-1678670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54888" y="1028700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6"/>
                </a:lnTo>
                <a:lnTo>
                  <a:pt x="0" y="8248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93216" y="923925"/>
            <a:ext cx="11006129" cy="352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Predição Automática de Indicativos Financeiros para </a:t>
            </a:r>
            <a:r>
              <a:rPr lang="en-US" sz="5000">
                <a:solidFill>
                  <a:srgbClr val="EB5436"/>
                </a:solidFill>
                <a:latin typeface="Garet"/>
                <a:ea typeface="Garet"/>
                <a:cs typeface="Garet"/>
                <a:sym typeface="Garet"/>
              </a:rPr>
              <a:t>Bolsa de Valores</a:t>
            </a:r>
            <a:r>
              <a:rPr lang="en-US" sz="5000">
                <a:solidFill>
                  <a:srgbClr val="F5F5F5"/>
                </a:solidFill>
                <a:latin typeface="Garet"/>
                <a:ea typeface="Garet"/>
                <a:cs typeface="Garet"/>
                <a:sym typeface="Garet"/>
              </a:rPr>
              <a:t> Considerando o Aspecto Temporal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935260" y="3400566"/>
            <a:ext cx="5324040" cy="5857734"/>
          </a:xfrm>
          <a:custGeom>
            <a:avLst/>
            <a:gdLst/>
            <a:ahLst/>
            <a:cxnLst/>
            <a:rect r="r" b="b" t="t" l="l"/>
            <a:pathLst>
              <a:path h="5857734" w="5324040">
                <a:moveTo>
                  <a:pt x="0" y="0"/>
                </a:moveTo>
                <a:lnTo>
                  <a:pt x="5324040" y="0"/>
                </a:lnTo>
                <a:lnTo>
                  <a:pt x="5324040" y="5857734"/>
                </a:lnTo>
                <a:lnTo>
                  <a:pt x="0" y="5857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899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204200"/>
            <a:ext cx="8273574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Projeto Final de Curso 1 - Universidade Federal de Catalão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Rafael da Silva Melo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Orientador: Prof. Dr. Márcio de Souza Dias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5960" y="-3762709"/>
            <a:ext cx="13306457" cy="1330645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038225"/>
            <a:ext cx="508906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Sumário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111073"/>
            <a:ext cx="8388392" cy="480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Contextualização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Fundamentação teórica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Séries temporais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Modelos clássicos de previsão financeira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Metodologia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Dados e preparação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Arquitetura dos modelos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Testes e </a:t>
            </a: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Métricas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Cronograma PFC2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Referências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Dúvidas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968680" y="2724131"/>
            <a:ext cx="3290620" cy="5307452"/>
          </a:xfrm>
          <a:custGeom>
            <a:avLst/>
            <a:gdLst/>
            <a:ahLst/>
            <a:cxnLst/>
            <a:rect r="r" b="b" t="t" l="l"/>
            <a:pathLst>
              <a:path h="5307452" w="3290620">
                <a:moveTo>
                  <a:pt x="0" y="0"/>
                </a:moveTo>
                <a:lnTo>
                  <a:pt x="3290620" y="0"/>
                </a:lnTo>
                <a:lnTo>
                  <a:pt x="3290620" y="5307452"/>
                </a:lnTo>
                <a:lnTo>
                  <a:pt x="0" y="5307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89483" y="2172039"/>
            <a:ext cx="4084408" cy="5942921"/>
          </a:xfrm>
          <a:custGeom>
            <a:avLst/>
            <a:gdLst/>
            <a:ahLst/>
            <a:cxnLst/>
            <a:rect r="r" b="b" t="t" l="l"/>
            <a:pathLst>
              <a:path h="5942921" w="4084408">
                <a:moveTo>
                  <a:pt x="0" y="0"/>
                </a:moveTo>
                <a:lnTo>
                  <a:pt x="4084408" y="0"/>
                </a:lnTo>
                <a:lnTo>
                  <a:pt x="4084408" y="5942922"/>
                </a:lnTo>
                <a:lnTo>
                  <a:pt x="0" y="59429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38195" y="4819030"/>
            <a:ext cx="823751" cy="724104"/>
          </a:xfrm>
          <a:custGeom>
            <a:avLst/>
            <a:gdLst/>
            <a:ahLst/>
            <a:cxnLst/>
            <a:rect r="r" b="b" t="t" l="l"/>
            <a:pathLst>
              <a:path h="724104" w="823751">
                <a:moveTo>
                  <a:pt x="0" y="0"/>
                </a:moveTo>
                <a:lnTo>
                  <a:pt x="823752" y="0"/>
                </a:lnTo>
                <a:lnTo>
                  <a:pt x="823752" y="724104"/>
                </a:lnTo>
                <a:lnTo>
                  <a:pt x="0" y="7241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050" t="-45530" r="-29156" b="-4696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2259" y="4743866"/>
            <a:ext cx="835835" cy="799267"/>
          </a:xfrm>
          <a:custGeom>
            <a:avLst/>
            <a:gdLst/>
            <a:ahLst/>
            <a:cxnLst/>
            <a:rect r="r" b="b" t="t" l="l"/>
            <a:pathLst>
              <a:path h="799267" w="835835">
                <a:moveTo>
                  <a:pt x="0" y="0"/>
                </a:moveTo>
                <a:lnTo>
                  <a:pt x="835836" y="0"/>
                </a:lnTo>
                <a:lnTo>
                  <a:pt x="835836" y="799268"/>
                </a:lnTo>
                <a:lnTo>
                  <a:pt x="0" y="799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033476" y="-6159317"/>
            <a:ext cx="10605956" cy="106059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3872018" y="599632"/>
            <a:ext cx="2834255" cy="2834255"/>
          </a:xfrm>
          <a:custGeom>
            <a:avLst/>
            <a:gdLst/>
            <a:ahLst/>
            <a:cxnLst/>
            <a:rect r="r" b="b" t="t" l="l"/>
            <a:pathLst>
              <a:path h="2834255" w="2834255">
                <a:moveTo>
                  <a:pt x="0" y="0"/>
                </a:moveTo>
                <a:lnTo>
                  <a:pt x="2834256" y="0"/>
                </a:lnTo>
                <a:lnTo>
                  <a:pt x="2834256" y="2834256"/>
                </a:lnTo>
                <a:lnTo>
                  <a:pt x="0" y="28342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49805" y="4446639"/>
            <a:ext cx="5209495" cy="5381129"/>
          </a:xfrm>
          <a:custGeom>
            <a:avLst/>
            <a:gdLst/>
            <a:ahLst/>
            <a:cxnLst/>
            <a:rect r="r" b="b" t="t" l="l"/>
            <a:pathLst>
              <a:path h="5381129" w="5209495">
                <a:moveTo>
                  <a:pt x="0" y="0"/>
                </a:moveTo>
                <a:lnTo>
                  <a:pt x="5209495" y="0"/>
                </a:lnTo>
                <a:lnTo>
                  <a:pt x="5209495" y="5381130"/>
                </a:lnTo>
                <a:lnTo>
                  <a:pt x="0" y="53811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38000"/>
            </a:blip>
            <a:stretch>
              <a:fillRect l="0" t="0" r="-3294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6175849"/>
            <a:ext cx="3887671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Espaços regulados para negociação de valores mobiliários, leis pra cada uma.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Garantem formação de preços justa (Mishkin &amp; Eakins, 2018)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Promovem liquidez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Favorecem alocação eficiente de recursos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34636" y="6386815"/>
            <a:ext cx="4257606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Ambientes de negociação; 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Registro;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Compensação e liquidação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Lei do Mercado de Valores Mobiliários (Lei nº 6.385/1976)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Lei das Sociedades por Ações.  e (Lei nº 6.404/1976) (S.A.)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09273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Bolsas de valores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31088" y="5655107"/>
            <a:ext cx="4091457" cy="41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B3 - Brasil, Bolsa, Balcão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38225"/>
            <a:ext cx="8115300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Contextualização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170797"/>
            <a:ext cx="1000477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 os avanços da tecnologia, a complexidade e a volatilidade dos ativos negociados em bolsa de valores aumentaram significativamente. (Andersen &amp; Bollerslev,1997)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1088" y="5985349"/>
            <a:ext cx="1481679" cy="267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5"/>
              </a:lnSpc>
              <a:spcBef>
                <a:spcPct val="0"/>
              </a:spcBef>
            </a:pPr>
            <a:r>
              <a:rPr lang="en-US" sz="1518">
                <a:solidFill>
                  <a:srgbClr val="FE6544"/>
                </a:solidFill>
                <a:latin typeface="Aileron"/>
                <a:ea typeface="Aileron"/>
                <a:cs typeface="Aileron"/>
                <a:sym typeface="Aileron"/>
              </a:rPr>
              <a:t>(www.b3.com.br)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12533" y="-7352776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onte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95904" y="132876"/>
            <a:ext cx="2435419" cy="2374533"/>
          </a:xfrm>
          <a:custGeom>
            <a:avLst/>
            <a:gdLst/>
            <a:ahLst/>
            <a:cxnLst/>
            <a:rect r="r" b="b" t="t" l="l"/>
            <a:pathLst>
              <a:path h="2374533" w="2435419">
                <a:moveTo>
                  <a:pt x="0" y="0"/>
                </a:moveTo>
                <a:lnTo>
                  <a:pt x="2435419" y="0"/>
                </a:lnTo>
                <a:lnTo>
                  <a:pt x="2435419" y="2374533"/>
                </a:lnTo>
                <a:lnTo>
                  <a:pt x="0" y="23745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89445" y="4400956"/>
            <a:ext cx="11301259" cy="5353971"/>
          </a:xfrm>
          <a:custGeom>
            <a:avLst/>
            <a:gdLst/>
            <a:ahLst/>
            <a:cxnLst/>
            <a:rect r="r" b="b" t="t" l="l"/>
            <a:pathLst>
              <a:path h="5353971" w="11301259">
                <a:moveTo>
                  <a:pt x="0" y="0"/>
                </a:moveTo>
                <a:lnTo>
                  <a:pt x="11301259" y="0"/>
                </a:lnTo>
                <a:lnTo>
                  <a:pt x="11301259" y="5353972"/>
                </a:lnTo>
                <a:lnTo>
                  <a:pt x="0" y="53539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0572" y="5976968"/>
            <a:ext cx="4203944" cy="2800877"/>
          </a:xfrm>
          <a:custGeom>
            <a:avLst/>
            <a:gdLst/>
            <a:ahLst/>
            <a:cxnLst/>
            <a:rect r="r" b="b" t="t" l="l"/>
            <a:pathLst>
              <a:path h="2800877" w="4203944">
                <a:moveTo>
                  <a:pt x="0" y="0"/>
                </a:moveTo>
                <a:lnTo>
                  <a:pt x="4203943" y="0"/>
                </a:lnTo>
                <a:lnTo>
                  <a:pt x="4203943" y="2800877"/>
                </a:lnTo>
                <a:lnTo>
                  <a:pt x="0" y="28008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38225"/>
            <a:ext cx="9841792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Contextualização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479" y="2677732"/>
            <a:ext cx="18186521" cy="2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Bandas de Bollinger: indicam a volatilidade e possíveis níveis de suporte e resistência dos preços (BOLLINGER, 2001);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Médias Móveis: suavizam os dados históricos e ajudam a identificar a direção predominante dos preços (MURPHY, 1999); 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Índice de Força Relativa (RSI): mede a força e a velocidade dos movimentos dos preços para avaliar possíveis situações de sobrecompra ou sobrevenda(MURPHY, 1999);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74128" y="2363436"/>
            <a:ext cx="4538446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Indicadores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30064" y="9747308"/>
            <a:ext cx="1130125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Yahoo Finance, adaptado pelo autor.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74128" y="5284970"/>
            <a:ext cx="4538446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Candlesticks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33476" y="-6159317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967070" y="432075"/>
            <a:ext cx="2979208" cy="3169371"/>
          </a:xfrm>
          <a:custGeom>
            <a:avLst/>
            <a:gdLst/>
            <a:ahLst/>
            <a:cxnLst/>
            <a:rect r="r" b="b" t="t" l="l"/>
            <a:pathLst>
              <a:path h="3169371" w="2979208">
                <a:moveTo>
                  <a:pt x="0" y="0"/>
                </a:moveTo>
                <a:lnTo>
                  <a:pt x="2979208" y="0"/>
                </a:lnTo>
                <a:lnTo>
                  <a:pt x="2979208" y="3169370"/>
                </a:lnTo>
                <a:lnTo>
                  <a:pt x="0" y="31693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12618" y="7720700"/>
            <a:ext cx="4662763" cy="3281420"/>
          </a:xfrm>
          <a:custGeom>
            <a:avLst/>
            <a:gdLst/>
            <a:ahLst/>
            <a:cxnLst/>
            <a:rect r="r" b="b" t="t" l="l"/>
            <a:pathLst>
              <a:path h="3281420" w="4662763">
                <a:moveTo>
                  <a:pt x="0" y="0"/>
                </a:moveTo>
                <a:lnTo>
                  <a:pt x="4662764" y="0"/>
                </a:lnTo>
                <a:lnTo>
                  <a:pt x="4662764" y="3281419"/>
                </a:lnTo>
                <a:lnTo>
                  <a:pt x="0" y="32814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38225"/>
            <a:ext cx="8115300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Motivação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713851"/>
            <a:ext cx="11915804" cy="422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Impacto esperado: Apoio à tomada de decisão em cenários voláteis e gestão de risco. (Kuhn &amp; Johnson, 2013)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Proposta: Avaliar um modelo híbrido temporal para gerar indicativos financeiros mais robustos.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Lacuna: Estudos antes degradam com o tempo e não se adaptam a novos regimes. (Makridakis, Spiliotis &amp; Assimakopoulos, 2018)</a:t>
            </a:r>
          </a:p>
          <a:p>
            <a:pPr algn="l" marL="453390" indent="-226695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Contexto: B3 apresenta alta volatilidade intradiária e funciona por livro de ofertas que aumentam a incerteza preditiva. (Hasbrouck , 2007)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099655"/>
            <a:ext cx="748021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Embora o mercado de ações não seja teoricamente previsível, muitos investidores identificam padrões que motivam a busca por estratégias de previsão. (Murphy (1999))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9698" y="-1921798"/>
            <a:ext cx="14130596" cy="141305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827530" y="979413"/>
            <a:ext cx="2428427" cy="824816"/>
          </a:xfrm>
          <a:custGeom>
            <a:avLst/>
            <a:gdLst/>
            <a:ahLst/>
            <a:cxnLst/>
            <a:rect r="r" b="b" t="t" l="l"/>
            <a:pathLst>
              <a:path h="824816" w="2428427">
                <a:moveTo>
                  <a:pt x="0" y="0"/>
                </a:moveTo>
                <a:lnTo>
                  <a:pt x="2428427" y="0"/>
                </a:lnTo>
                <a:lnTo>
                  <a:pt x="2428427" y="824815"/>
                </a:lnTo>
                <a:lnTo>
                  <a:pt x="0" y="8248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670481" y="2335528"/>
            <a:ext cx="12689030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Pergunta central do estudo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02084" y="4120672"/>
            <a:ext cx="11483831" cy="181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Em que condições (janelas, regimes de volatilidade e custo) um modelo CNN+LSTM supera comparadores clássicos e variantes com atenção na tarefa de previsão direcional intradiária (+1 barra/15 min) em ações líquidas da B3, sob avaliação walk-forward e métricas pós-custos?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81413" y="6662101"/>
            <a:ext cx="5525173" cy="2024699"/>
          </a:xfrm>
          <a:custGeom>
            <a:avLst/>
            <a:gdLst/>
            <a:ahLst/>
            <a:cxnLst/>
            <a:rect r="r" b="b" t="t" l="l"/>
            <a:pathLst>
              <a:path h="2024699" w="5525173">
                <a:moveTo>
                  <a:pt x="0" y="0"/>
                </a:moveTo>
                <a:lnTo>
                  <a:pt x="5525174" y="0"/>
                </a:lnTo>
                <a:lnTo>
                  <a:pt x="5525174" y="2024699"/>
                </a:lnTo>
                <a:lnTo>
                  <a:pt x="0" y="2024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6134" r="0" b="-4567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305086" y="8760601"/>
            <a:ext cx="141982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autor.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04118" y="5547591"/>
            <a:ext cx="2679764" cy="4114800"/>
          </a:xfrm>
          <a:custGeom>
            <a:avLst/>
            <a:gdLst/>
            <a:ahLst/>
            <a:cxnLst/>
            <a:rect r="r" b="b" t="t" l="l"/>
            <a:pathLst>
              <a:path h="4114800" w="2679764">
                <a:moveTo>
                  <a:pt x="0" y="0"/>
                </a:moveTo>
                <a:lnTo>
                  <a:pt x="2679764" y="0"/>
                </a:lnTo>
                <a:lnTo>
                  <a:pt x="267976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0571" y="2827007"/>
            <a:ext cx="17146858" cy="286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 (Redes Neurais Convolucionais) → Rede neural que identifica padrões locais em janelas de dados. (LeCun, Bengio &amp; Hinton , 2015)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LSTM (Memória de Longo e Curto Prazo) → Rede neural que guarda memória para prever sequências. (Hochreiter &amp; Schmidhuber,1997 e Olah, 2015)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SVM (Máquina de Vetores de Suporte) → Aprendizado de máquina que separa classes maximizando margens. (Cortes &amp; Vapnik, 1995)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RF (Floresta Aleatória) → Aprendizado de máquina , baseado em conjuntos de árvores que votam para mais precisão. (Breiman, 2001)</a:t>
            </a:r>
          </a:p>
          <a:p>
            <a:pPr algn="l">
              <a:lnSpc>
                <a:spcPts val="2280"/>
              </a:lnSpc>
            </a:pPr>
          </a:p>
          <a:p>
            <a:pPr algn="l">
              <a:lnSpc>
                <a:spcPts val="228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Híbrido (Modelo Híbrido) → Combina técnicas para melhorar previsões. (Borovykh, Bohte &amp; Oosterlee, 2017.)</a:t>
            </a:r>
          </a:p>
          <a:p>
            <a:pPr algn="l">
              <a:lnSpc>
                <a:spcPts val="22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Fundamentação teórica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0571" y="2363436"/>
            <a:ext cx="4538446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Termos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461956" y="2016760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154853"/>
            <a:ext cx="6142673" cy="4493137"/>
          </a:xfrm>
          <a:custGeom>
            <a:avLst/>
            <a:gdLst/>
            <a:ahLst/>
            <a:cxnLst/>
            <a:rect r="r" b="b" t="t" l="l"/>
            <a:pathLst>
              <a:path h="4493137" w="6142673">
                <a:moveTo>
                  <a:pt x="0" y="0"/>
                </a:moveTo>
                <a:lnTo>
                  <a:pt x="6142673" y="0"/>
                </a:lnTo>
                <a:lnTo>
                  <a:pt x="6142673" y="4493137"/>
                </a:lnTo>
                <a:lnTo>
                  <a:pt x="0" y="44931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608349" y="5229971"/>
            <a:ext cx="8257668" cy="369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Heterocedasticidade → Cada janela tem sua própria variação, então normalizamos dentro dela.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CNN períodos menores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LSTM períodos maiores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Microestrutura → ruídos que geram falsas previsões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Poucas ordens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BID e ASK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608349" y="2451998"/>
            <a:ext cx="7905890" cy="6612812"/>
            <a:chOff x="0" y="0"/>
            <a:chExt cx="2082210" cy="174164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82210" cy="1741646"/>
            </a:xfrm>
            <a:custGeom>
              <a:avLst/>
              <a:gdLst/>
              <a:ahLst/>
              <a:cxnLst/>
              <a:rect r="r" b="b" t="t" l="l"/>
              <a:pathLst>
                <a:path h="1741646" w="2082210">
                  <a:moveTo>
                    <a:pt x="0" y="0"/>
                  </a:moveTo>
                  <a:lnTo>
                    <a:pt x="2082210" y="0"/>
                  </a:lnTo>
                  <a:lnTo>
                    <a:pt x="2082210" y="1741646"/>
                  </a:lnTo>
                  <a:lnTo>
                    <a:pt x="0" y="1741646"/>
                  </a:lnTo>
                  <a:close/>
                </a:path>
              </a:pathLst>
            </a:custGeom>
            <a:ln w="38100" cap="sq">
              <a:solidFill>
                <a:srgbClr val="FE6544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82210" cy="17892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026285"/>
            <a:ext cx="8115300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Séries temporais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9603" y="7795605"/>
            <a:ext cx="7699296" cy="2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Tendência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Sazonalidade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Ciclos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Ruído aleatórios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349" y="2402121"/>
            <a:ext cx="6519267" cy="2091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Tempo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</a:t>
            </a: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equência de dados coletados ao longo do tempo.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Ordenadas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Padrões internos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Fundamentação teórica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388" y="7609890"/>
            <a:ext cx="7699296" cy="266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Fonte: (LEONUNESBIO, 2014).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4212" y="9934919"/>
            <a:ext cx="181362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Box e Jenkins, 2015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8349" y="9026710"/>
            <a:ext cx="7905890" cy="273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Hyndman e Athanasopoulos, 2018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821189" y="9707303"/>
            <a:ext cx="169515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2154050"/>
            <a:ext cx="18288000" cy="18288000"/>
          </a:xfrm>
          <a:custGeom>
            <a:avLst/>
            <a:gdLst/>
            <a:ahLst/>
            <a:cxnLst/>
            <a:rect r="r" b="b" t="t" l="l"/>
            <a:pathLst>
              <a:path h="18288000" w="18288000">
                <a:moveTo>
                  <a:pt x="0" y="0"/>
                </a:moveTo>
                <a:lnTo>
                  <a:pt x="18288000" y="0"/>
                </a:lnTo>
                <a:lnTo>
                  <a:pt x="18288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026285"/>
            <a:ext cx="9936519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 que é um modelo de previsão?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8902119" y="2753223"/>
            <a:ext cx="10605956" cy="106059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28700" y="7414327"/>
            <a:ext cx="6894811" cy="2171658"/>
          </a:xfrm>
          <a:custGeom>
            <a:avLst/>
            <a:gdLst/>
            <a:ahLst/>
            <a:cxnLst/>
            <a:rect r="r" b="b" t="t" l="l"/>
            <a:pathLst>
              <a:path h="2171658" w="6894811">
                <a:moveTo>
                  <a:pt x="0" y="0"/>
                </a:moveTo>
                <a:lnTo>
                  <a:pt x="6894811" y="0"/>
                </a:lnTo>
                <a:lnTo>
                  <a:pt x="6894811" y="2171658"/>
                </a:lnTo>
                <a:lnTo>
                  <a:pt x="0" y="21716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428" t="-61785" r="-4428" b="-6847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03797" y="3951399"/>
            <a:ext cx="6392386" cy="4258927"/>
          </a:xfrm>
          <a:custGeom>
            <a:avLst/>
            <a:gdLst/>
            <a:ahLst/>
            <a:cxnLst/>
            <a:rect r="r" b="b" t="t" l="l"/>
            <a:pathLst>
              <a:path h="4258927" w="6392386">
                <a:moveTo>
                  <a:pt x="0" y="0"/>
                </a:moveTo>
                <a:lnTo>
                  <a:pt x="6392386" y="0"/>
                </a:lnTo>
                <a:lnTo>
                  <a:pt x="6392386" y="4258927"/>
                </a:lnTo>
                <a:lnTo>
                  <a:pt x="0" y="4258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348831"/>
            <a:ext cx="8115300" cy="248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Conjunto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de regras matemáticas/estatísticas que aprendem padrões em dados históricos. (Kuhn &amp; Johnson, 2013)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Entrada: séries temporais (preços, volumes, indicadores técnicos).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Saída: projeção futura (preço, tendência, sinal de compra/venda).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Objetivo: reduzir incerteza e apoiar a tomada de decisão.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48985" y="3316399"/>
            <a:ext cx="370201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 Fonte: Adaptado de Olah (2015)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34508" y="8452531"/>
            <a:ext cx="6530964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Portão de Esquecimento → informação anterior a ser descartada, valor entre 0 (esquecer) e 1(manter)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Portão de entrada → Novas informações de inserção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Portão de Saída → Saída da célula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Fundamentação teórica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26285"/>
            <a:ext cx="9936519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Modelos Clássicos de Previsão Financeira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2594131"/>
            <a:ext cx="10605956" cy="106059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965219" y="4923630"/>
            <a:ext cx="6729871" cy="3995861"/>
          </a:xfrm>
          <a:custGeom>
            <a:avLst/>
            <a:gdLst/>
            <a:ahLst/>
            <a:cxnLst/>
            <a:rect r="r" b="b" t="t" l="l"/>
            <a:pathLst>
              <a:path h="3995861" w="6729871">
                <a:moveTo>
                  <a:pt x="0" y="0"/>
                </a:moveTo>
                <a:lnTo>
                  <a:pt x="6729871" y="0"/>
                </a:lnTo>
                <a:lnTo>
                  <a:pt x="6729871" y="3995861"/>
                </a:lnTo>
                <a:lnTo>
                  <a:pt x="0" y="3995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348831"/>
            <a:ext cx="7761312" cy="45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ARIMA e modelos autorregressivos: capturam padrões lineares de curto prazo. (Box et al., 2015)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Vantagem: simplicidade e boa interpretabilidade. (Box et al., 2015)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Limitação: assumem linearidade e estacionariedade. (Box et al., 2015)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Exemplo aplicado: em estudos da B3, podem capturar uma tendência curta, mas falham em prever reversões súbitas. (Makridakis, Spiliotis &amp; Assimakopoulos, 2018)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Fundamentação teórica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026285"/>
            <a:ext cx="9936519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Avanços sobre os modelos tradicionais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0" y="2594131"/>
            <a:ext cx="10605956" cy="1060595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219024" y="4783930"/>
            <a:ext cx="5863057" cy="4114800"/>
          </a:xfrm>
          <a:custGeom>
            <a:avLst/>
            <a:gdLst/>
            <a:ahLst/>
            <a:cxnLst/>
            <a:rect r="r" b="b" t="t" l="l"/>
            <a:pathLst>
              <a:path h="4114800" w="5863057">
                <a:moveTo>
                  <a:pt x="0" y="0"/>
                </a:moveTo>
                <a:lnTo>
                  <a:pt x="5863057" y="0"/>
                </a:lnTo>
                <a:lnTo>
                  <a:pt x="58630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64786" y="7551456"/>
            <a:ext cx="7312848" cy="1913059"/>
            <a:chOff x="0" y="0"/>
            <a:chExt cx="5894888" cy="154211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894888" cy="1542117"/>
            </a:xfrm>
            <a:custGeom>
              <a:avLst/>
              <a:gdLst/>
              <a:ahLst/>
              <a:cxnLst/>
              <a:rect r="r" b="b" t="t" l="l"/>
              <a:pathLst>
                <a:path h="1542117" w="5894888">
                  <a:moveTo>
                    <a:pt x="5511462" y="1542117"/>
                  </a:moveTo>
                  <a:lnTo>
                    <a:pt x="383427" y="1542117"/>
                  </a:lnTo>
                  <a:cubicBezTo>
                    <a:pt x="171719" y="1542117"/>
                    <a:pt x="0" y="1474505"/>
                    <a:pt x="0" y="1391611"/>
                  </a:cubicBezTo>
                  <a:lnTo>
                    <a:pt x="0" y="150970"/>
                  </a:lnTo>
                  <a:cubicBezTo>
                    <a:pt x="0" y="67612"/>
                    <a:pt x="171719" y="0"/>
                    <a:pt x="383426" y="0"/>
                  </a:cubicBezTo>
                  <a:lnTo>
                    <a:pt x="5511462" y="0"/>
                  </a:lnTo>
                  <a:cubicBezTo>
                    <a:pt x="5723170" y="0"/>
                    <a:pt x="5894888" y="67612"/>
                    <a:pt x="5894888" y="150970"/>
                  </a:cubicBezTo>
                  <a:lnTo>
                    <a:pt x="5894888" y="1391611"/>
                  </a:lnTo>
                  <a:cubicBezTo>
                    <a:pt x="5894888" y="1474505"/>
                    <a:pt x="5723170" y="1542117"/>
                    <a:pt x="5511462" y="1542117"/>
                  </a:cubicBezTo>
                  <a:close/>
                </a:path>
              </a:pathLst>
            </a:custGeom>
            <a:solidFill>
              <a:srgbClr val="2C2C6C"/>
            </a:solidFill>
            <a:ln w="38100" cap="sq">
              <a:solidFill>
                <a:srgbClr val="EB5436"/>
              </a:solidFill>
              <a:prstDash val="lgDash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348831"/>
            <a:ext cx="7761312" cy="248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Redes neurais feedforward (MLPs): exploraram volatilidades, mas sem memória temporal. (Nascimento et al., 2023)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Métodos baseados em árvore (Random Forest, XGBoost): boa performance em atributos, mas ignoram sequência. (Derbentsev, 2020)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2104" y="7636914"/>
            <a:ext cx="6998212" cy="1608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3"/>
              </a:lnSpc>
              <a:spcBef>
                <a:spcPct val="0"/>
              </a:spcBef>
            </a:pPr>
            <a:r>
              <a:rPr lang="en-US" sz="1626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Esses modelos foram muito importantes para os primeiros estudos da bolsa, porque eram simples e funcionavam em séries mais estáveis. Mas, quando aplicados em dados da B3 intradiária, eles se mostram limitados, pois não conseguem lidar bem com mudanças bruscas de comportamento.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2593" y="9545617"/>
            <a:ext cx="3515916" cy="240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i="true">
                <a:solidFill>
                  <a:srgbClr val="FFFFFF"/>
                </a:solidFill>
                <a:latin typeface="Aileron Italics"/>
                <a:ea typeface="Aileron Italics"/>
                <a:cs typeface="Aileron Italics"/>
                <a:sym typeface="Aileron Italics"/>
              </a:rPr>
              <a:t>Makridakis, Spiliotis &amp; Assimakopoulos, 2018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38225"/>
            <a:ext cx="11021561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Fundamentação teórica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9855" y="3644313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516248" y="6013163"/>
            <a:ext cx="8426247" cy="2619084"/>
          </a:xfrm>
          <a:custGeom>
            <a:avLst/>
            <a:gdLst/>
            <a:ahLst/>
            <a:cxnLst/>
            <a:rect r="r" b="b" t="t" l="l"/>
            <a:pathLst>
              <a:path h="2619084" w="8426247">
                <a:moveTo>
                  <a:pt x="0" y="0"/>
                </a:moveTo>
                <a:lnTo>
                  <a:pt x="8426247" y="0"/>
                </a:lnTo>
                <a:lnTo>
                  <a:pt x="8426247" y="2619084"/>
                </a:lnTo>
                <a:lnTo>
                  <a:pt x="0" y="2619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851" r="0" b="-5749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08130" y="7050403"/>
            <a:ext cx="544604" cy="544604"/>
          </a:xfrm>
          <a:custGeom>
            <a:avLst/>
            <a:gdLst/>
            <a:ahLst/>
            <a:cxnLst/>
            <a:rect r="r" b="b" t="t" l="l"/>
            <a:pathLst>
              <a:path h="544604" w="544604">
                <a:moveTo>
                  <a:pt x="0" y="0"/>
                </a:moveTo>
                <a:lnTo>
                  <a:pt x="544604" y="0"/>
                </a:lnTo>
                <a:lnTo>
                  <a:pt x="544604" y="544604"/>
                </a:lnTo>
                <a:lnTo>
                  <a:pt x="0" y="5446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Objetivos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580504"/>
            <a:ext cx="8115300" cy="399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Explora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modelos temporais híbridos (CNN+LSTM) para prever indicativos financeiros. (Borovykh et al., 2017)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Vai além de modelos estatísticos e ML simples.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Busca superar: falta de memória, validação incorreta, pouca robustez. (Bergmeir &amp; Benítez, 2012 e Souza et al., 2022)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Contribui com pipeline transparente e reprodutível. (Kuhn &amp; Johnson, 2013)</a:t>
            </a:r>
          </a:p>
          <a:p>
            <a:pPr algn="l" marL="863604" indent="-287868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Transparência de processos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98791" y="-6020221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2805538"/>
            <a:ext cx="1060064" cy="989955"/>
          </a:xfrm>
          <a:custGeom>
            <a:avLst/>
            <a:gdLst/>
            <a:ahLst/>
            <a:cxnLst/>
            <a:rect r="r" b="b" t="t" l="l"/>
            <a:pathLst>
              <a:path h="989955" w="1060064">
                <a:moveTo>
                  <a:pt x="0" y="0"/>
                </a:moveTo>
                <a:lnTo>
                  <a:pt x="1060064" y="0"/>
                </a:lnTo>
                <a:lnTo>
                  <a:pt x="1060064" y="989955"/>
                </a:lnTo>
                <a:lnTo>
                  <a:pt x="0" y="989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398624" y="2805538"/>
            <a:ext cx="989955" cy="989955"/>
          </a:xfrm>
          <a:custGeom>
            <a:avLst/>
            <a:gdLst/>
            <a:ahLst/>
            <a:cxnLst/>
            <a:rect r="r" b="b" t="t" l="l"/>
            <a:pathLst>
              <a:path h="989955" w="989955">
                <a:moveTo>
                  <a:pt x="0" y="0"/>
                </a:moveTo>
                <a:lnTo>
                  <a:pt x="989955" y="0"/>
                </a:lnTo>
                <a:lnTo>
                  <a:pt x="989955" y="989955"/>
                </a:lnTo>
                <a:lnTo>
                  <a:pt x="0" y="9899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67633" y="749588"/>
            <a:ext cx="2691667" cy="2422500"/>
          </a:xfrm>
          <a:custGeom>
            <a:avLst/>
            <a:gdLst/>
            <a:ahLst/>
            <a:cxnLst/>
            <a:rect r="r" b="b" t="t" l="l"/>
            <a:pathLst>
              <a:path h="2422500" w="2691667">
                <a:moveTo>
                  <a:pt x="0" y="0"/>
                </a:moveTo>
                <a:lnTo>
                  <a:pt x="2691667" y="0"/>
                </a:lnTo>
                <a:lnTo>
                  <a:pt x="2691667" y="2422500"/>
                </a:lnTo>
                <a:lnTo>
                  <a:pt x="0" y="2422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567698"/>
            <a:ext cx="4257606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Ações líquidas da B3.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Exemplos: PETR4, VALE3 e ITUB4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72636" y="4567698"/>
            <a:ext cx="4257606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15 minutos.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Com análises de sensibilidade em 5 e 30 minutos.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48127" y="3285353"/>
            <a:ext cx="4257606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+1 barra (próxima vela)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836088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Ativos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72636" y="3836088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Frequência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48127" y="2757913"/>
            <a:ext cx="3355414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Horizonte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Delimitações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8127" y="4536332"/>
            <a:ext cx="668416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</a:t>
            </a: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alk-forward + embargo temporal (López de Prado (2018))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348127" y="3977470"/>
            <a:ext cx="3355414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Validação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6583823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Fora do escopo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876683"/>
            <a:ext cx="5752058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Previsões de alta frequência em milissegundos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Criptomoedas ou mercados internacionais.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Predição de preço absoluto ou lucro garantido.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48127" y="5787311"/>
            <a:ext cx="234136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Jan/2020  - Jul/2025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48127" y="5230260"/>
            <a:ext cx="3355414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Período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12176" y="50165"/>
            <a:ext cx="9696892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Trabalhos correlatos</a:t>
            </a:r>
          </a:p>
        </p:txBody>
      </p:sp>
      <p:graphicFrame>
        <p:nvGraphicFramePr>
          <p:cNvPr name="Object 3" id="3"/>
          <p:cNvGraphicFramePr/>
          <p:nvPr/>
        </p:nvGraphicFramePr>
        <p:xfrm>
          <a:off x="2593334" y="1287726"/>
          <a:ext cx="2514600" cy="4610100"/>
        </p:xfrm>
        <a:graphic>
          <a:graphicData uri="http://schemas.openxmlformats.org/presentationml/2006/ole">
            <p:oleObj imgW="3429000" imgH="5524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7315" y="-6448869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374533" y="435212"/>
            <a:ext cx="2259778" cy="2175036"/>
          </a:xfrm>
          <a:custGeom>
            <a:avLst/>
            <a:gdLst/>
            <a:ahLst/>
            <a:cxnLst/>
            <a:rect r="r" b="b" t="t" l="l"/>
            <a:pathLst>
              <a:path h="2175036" w="2259778">
                <a:moveTo>
                  <a:pt x="0" y="0"/>
                </a:moveTo>
                <a:lnTo>
                  <a:pt x="2259778" y="0"/>
                </a:lnTo>
                <a:lnTo>
                  <a:pt x="2259778" y="2175036"/>
                </a:lnTo>
                <a:lnTo>
                  <a:pt x="0" y="21750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83627" y="1709458"/>
            <a:ext cx="9852186" cy="8559086"/>
          </a:xfrm>
          <a:custGeom>
            <a:avLst/>
            <a:gdLst/>
            <a:ahLst/>
            <a:cxnLst/>
            <a:rect r="r" b="b" t="t" l="l"/>
            <a:pathLst>
              <a:path h="8559086" w="9852186">
                <a:moveTo>
                  <a:pt x="0" y="0"/>
                </a:moveTo>
                <a:lnTo>
                  <a:pt x="9852186" y="0"/>
                </a:lnTo>
                <a:lnTo>
                  <a:pt x="9852186" y="8559087"/>
                </a:lnTo>
                <a:lnTo>
                  <a:pt x="0" y="85590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50429" y="7686597"/>
            <a:ext cx="2859421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Borovykh, Bohte &amp; Oosterlee, 2017. - Usam CNN para previsão condicional em séries temporais.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250365" y="8058072"/>
            <a:ext cx="2913542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Ding &amp; Qin, 2020— Aplicam LSTM para prever preços de ações.</a:t>
            </a:r>
          </a:p>
        </p:txBody>
      </p:sp>
      <p:sp>
        <p:nvSpPr>
          <p:cNvPr name="AutoShape 9" id="9"/>
          <p:cNvSpPr/>
          <p:nvPr/>
        </p:nvSpPr>
        <p:spPr>
          <a:xfrm>
            <a:off x="5550429" y="7511456"/>
            <a:ext cx="6613477" cy="0"/>
          </a:xfrm>
          <a:prstGeom prst="line">
            <a:avLst/>
          </a:prstGeom>
          <a:ln cap="flat" w="38100">
            <a:solidFill>
              <a:srgbClr val="EB54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7334782" y="4741469"/>
            <a:ext cx="3220741" cy="0"/>
          </a:xfrm>
          <a:prstGeom prst="line">
            <a:avLst/>
          </a:prstGeom>
          <a:ln cap="flat" w="38100">
            <a:solidFill>
              <a:srgbClr val="EB54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909720" y="7511456"/>
            <a:ext cx="0" cy="2757088"/>
          </a:xfrm>
          <a:prstGeom prst="line">
            <a:avLst/>
          </a:prstGeom>
          <a:ln cap="flat" w="38100">
            <a:solidFill>
              <a:srgbClr val="EB54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530898"/>
            <a:ext cx="11034349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Trabalhos correlatos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96133" y="5010340"/>
            <a:ext cx="3151317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Souza et al., 2022 - Combinam análise de sentimento e dados de mercado em modelo híbrido (texto + séries temporais).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1873013"/>
            <a:ext cx="3552974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Ligados ao tema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Tempo e espaço temporal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80884" y="3893900"/>
            <a:ext cx="1581815" cy="390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8"/>
              </a:lnSpc>
              <a:spcBef>
                <a:spcPct val="0"/>
              </a:spcBef>
            </a:pPr>
            <a:r>
              <a:rPr lang="en-US" b="true" sz="2256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PROPOSTO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24734" y="-1821184"/>
            <a:ext cx="13926533" cy="1392653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549346" y="1899428"/>
            <a:ext cx="4997497" cy="5860604"/>
          </a:xfrm>
          <a:custGeom>
            <a:avLst/>
            <a:gdLst/>
            <a:ahLst/>
            <a:cxnLst/>
            <a:rect r="r" b="b" t="t" l="l"/>
            <a:pathLst>
              <a:path h="5860604" w="4997497">
                <a:moveTo>
                  <a:pt x="0" y="0"/>
                </a:moveTo>
                <a:lnTo>
                  <a:pt x="4997497" y="0"/>
                </a:lnTo>
                <a:lnTo>
                  <a:pt x="4997497" y="5860605"/>
                </a:lnTo>
                <a:lnTo>
                  <a:pt x="0" y="5860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9973" y="2891644"/>
            <a:ext cx="1256697" cy="873405"/>
          </a:xfrm>
          <a:custGeom>
            <a:avLst/>
            <a:gdLst/>
            <a:ahLst/>
            <a:cxnLst/>
            <a:rect r="r" b="b" t="t" l="l"/>
            <a:pathLst>
              <a:path h="873405" w="1256697">
                <a:moveTo>
                  <a:pt x="0" y="0"/>
                </a:moveTo>
                <a:lnTo>
                  <a:pt x="1256697" y="0"/>
                </a:lnTo>
                <a:lnTo>
                  <a:pt x="1256697" y="873404"/>
                </a:lnTo>
                <a:lnTo>
                  <a:pt x="0" y="8734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78129" y="2865031"/>
            <a:ext cx="1023899" cy="926629"/>
          </a:xfrm>
          <a:custGeom>
            <a:avLst/>
            <a:gdLst/>
            <a:ahLst/>
            <a:cxnLst/>
            <a:rect r="r" b="b" t="t" l="l"/>
            <a:pathLst>
              <a:path h="926629" w="1023899">
                <a:moveTo>
                  <a:pt x="0" y="0"/>
                </a:moveTo>
                <a:lnTo>
                  <a:pt x="1023899" y="0"/>
                </a:lnTo>
                <a:lnTo>
                  <a:pt x="1023899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76645" y="6271197"/>
            <a:ext cx="2276609" cy="802505"/>
          </a:xfrm>
          <a:custGeom>
            <a:avLst/>
            <a:gdLst/>
            <a:ahLst/>
            <a:cxnLst/>
            <a:rect r="r" b="b" t="t" l="l"/>
            <a:pathLst>
              <a:path h="802505" w="2276609">
                <a:moveTo>
                  <a:pt x="0" y="0"/>
                </a:moveTo>
                <a:lnTo>
                  <a:pt x="2276610" y="0"/>
                </a:lnTo>
                <a:lnTo>
                  <a:pt x="2276610" y="802505"/>
                </a:lnTo>
                <a:lnTo>
                  <a:pt x="0" y="8025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3301" y="4332156"/>
            <a:ext cx="425760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B3 e seus fornecedores.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(B3 (s.d.) – site oficial)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(YahooFinance - site oficial)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3301" y="3841780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Dados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78129" y="4378898"/>
            <a:ext cx="4257606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Grupamentos (Hasbrouck, 2007)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Horários do pregão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Barras com registros anômalos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478129" y="3841780"/>
            <a:ext cx="2968403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Ajustes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14685" y="7712408"/>
            <a:ext cx="680052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Min-Max para cada etapa do walk-forward (Tsay, 2010)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Indicadores técnicos MME 9/21/50; (Pring, 2014) 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Bandas de Bollinger; (Bollinger, 2001)</a:t>
            </a:r>
          </a:p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RSI; (Pring, 2014)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76645" y="7160233"/>
            <a:ext cx="2276609" cy="41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1"/>
              </a:lnSpc>
            </a:pPr>
            <a:r>
              <a:rPr lang="en-US" sz="2443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Normalização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026285"/>
            <a:ext cx="14237908" cy="358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Dados e preparação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77229" y="1983844"/>
            <a:ext cx="2933542" cy="2772197"/>
          </a:xfrm>
          <a:custGeom>
            <a:avLst/>
            <a:gdLst/>
            <a:ahLst/>
            <a:cxnLst/>
            <a:rect r="r" b="b" t="t" l="l"/>
            <a:pathLst>
              <a:path h="2772197" w="2933542">
                <a:moveTo>
                  <a:pt x="0" y="0"/>
                </a:moveTo>
                <a:lnTo>
                  <a:pt x="2933542" y="0"/>
                </a:lnTo>
                <a:lnTo>
                  <a:pt x="2933542" y="2772197"/>
                </a:lnTo>
                <a:lnTo>
                  <a:pt x="0" y="2772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249382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Metodologia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36278" y="4965591"/>
            <a:ext cx="2215443" cy="577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9"/>
              </a:lnSpc>
            </a:pPr>
            <a:r>
              <a:rPr lang="en-US" sz="3471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Proposto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09238" y="5771965"/>
            <a:ext cx="1669524" cy="372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  <a:spcBef>
                <a:spcPct val="0"/>
              </a:spcBef>
            </a:pPr>
            <a:r>
              <a:rPr lang="en-US" sz="2272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 + LSTM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51374" y="6354224"/>
            <a:ext cx="6785253" cy="2509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CNN → padrões locais na  janela temporal</a:t>
            </a:r>
          </a:p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LSTM → dependências de maior alcance</a:t>
            </a:r>
          </a:p>
          <a:p>
            <a:pPr algn="just">
              <a:lnSpc>
                <a:spcPts val="3976"/>
              </a:lnSpc>
            </a:pPr>
            <a:r>
              <a:rPr lang="en-US" sz="284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Saída → Sigmoide de probabilidade, tentando equilibrar movimentos bruscos e persistentes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51374" y="9091945"/>
            <a:ext cx="6785253" cy="692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3"/>
              </a:lnSpc>
              <a:spcBef>
                <a:spcPct val="0"/>
              </a:spcBef>
            </a:pPr>
            <a:r>
              <a:rPr lang="en-US" sz="1988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Souza et al., 2022, Borovykh, Bohte &amp; Oosterlee, 2017, Ding &amp; Qin, 2020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819209"/>
            <a:ext cx="12493821" cy="41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5"/>
              </a:lnSpc>
            </a:pPr>
            <a:r>
              <a:rPr lang="en-US" sz="2439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Treinamento do modelo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9855" y="3644313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211736" y="5143500"/>
            <a:ext cx="3842194" cy="4114800"/>
          </a:xfrm>
          <a:custGeom>
            <a:avLst/>
            <a:gdLst/>
            <a:ahLst/>
            <a:cxnLst/>
            <a:rect r="r" b="b" t="t" l="l"/>
            <a:pathLst>
              <a:path h="4114800" w="3842194">
                <a:moveTo>
                  <a:pt x="0" y="0"/>
                </a:moveTo>
                <a:lnTo>
                  <a:pt x="3842195" y="0"/>
                </a:lnTo>
                <a:lnTo>
                  <a:pt x="3842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Testes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20516"/>
            <a:ext cx="9239334" cy="3691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Robustez (Diebold &amp; Mariano, 1995)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Diebold-Mariano entre os baselines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Backtest (López de Prado, 2018)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Long e short</a:t>
            </a:r>
          </a:p>
          <a:p>
            <a:pPr algn="l" marL="906783" indent="-302261" lvl="2">
              <a:lnSpc>
                <a:spcPts val="4200"/>
              </a:lnSpc>
              <a:buFont typeface="Arial"/>
              <a:buChar char="⚬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Custos de transação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Volatilidade (calmaria vs choque) (Andersen &amp; Bollerslev, 1997)</a:t>
            </a:r>
          </a:p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Avaliar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876030"/>
            <a:ext cx="6391899" cy="735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“Como lembra López de Prado (2018), sem validação prática um modelo pode parecer bom apenas no papel. O backtest funciona como um teste de estrada: verifica se o modelo resiste fora do laboratório.”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29855" y="3644313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357252" y="5466466"/>
            <a:ext cx="5551164" cy="4114800"/>
          </a:xfrm>
          <a:custGeom>
            <a:avLst/>
            <a:gdLst/>
            <a:ahLst/>
            <a:cxnLst/>
            <a:rect r="r" b="b" t="t" l="l"/>
            <a:pathLst>
              <a:path h="4114800" w="5551164">
                <a:moveTo>
                  <a:pt x="0" y="0"/>
                </a:moveTo>
                <a:lnTo>
                  <a:pt x="5551163" y="0"/>
                </a:lnTo>
                <a:lnTo>
                  <a:pt x="55511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038225"/>
            <a:ext cx="14237908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Métricas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570979"/>
            <a:ext cx="11515857" cy="302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4200"/>
              </a:lnSpc>
              <a:buFont typeface="Arial"/>
              <a:buChar char="•"/>
            </a:pPr>
            <a:r>
              <a:rPr lang="en-US" sz="21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Acurácial Direcional → Comprar ou vender (Nascimento et al., 2023)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Qualidade probabilística → Garante que seja confiável, não só classificações (Guo et al., 2017)</a:t>
            </a:r>
          </a:p>
          <a:p>
            <a:pPr algn="l" marL="431802" indent="-215901" lvl="1">
              <a:lnSpc>
                <a:spcPts val="40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Métricas de trading (Bodie, Kane &amp; Marcus, 2021):</a:t>
            </a:r>
          </a:p>
          <a:p>
            <a:pPr algn="l" marL="863604" indent="-287868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Retorno líquido → lucro - investimento</a:t>
            </a:r>
          </a:p>
          <a:p>
            <a:pPr algn="l" marL="863604" indent="-287868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Sharpe → retorno ajustado ao risco imposto</a:t>
            </a:r>
          </a:p>
          <a:p>
            <a:pPr algn="l" marL="863604" indent="-287868" lvl="2">
              <a:lnSpc>
                <a:spcPts val="4000"/>
              </a:lnSpc>
              <a:buFont typeface="Arial"/>
              <a:buChar char="⚬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Max Drawdown → maior perda acumulada em uma estratégia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575694" y="1192769"/>
          <a:ext cx="8801100" cy="4610100"/>
        </p:xfrm>
        <a:graphic>
          <a:graphicData uri="http://schemas.openxmlformats.org/presentationml/2006/ole">
            <p:oleObj imgW="10553700" imgH="63627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169494" y="50165"/>
            <a:ext cx="7949012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Cronograma PFC2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65791" y="9495951"/>
            <a:ext cx="11956418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É como montar um carro: primeiro auditamos as peças (dados), depois montamos o motor (modelos), testamos na pista (backtest) e por fim entregamos o veículo pronto (resultados).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212163"/>
                </a:solidFill>
                <a:latin typeface="Aileron"/>
                <a:ea typeface="Aileron"/>
                <a:cs typeface="Aileron"/>
                <a:sym typeface="Aileron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70250"/>
            <a:ext cx="7355019" cy="598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BOX, G. E. P.; JENKINS, G. M.; REINSEL, G. C.; LJUNG, G. M. Time Series Analysis: Forecasting and Control. 5. ed. [S.l.]: Wiley, 2015. ISBN 9781118675021. Citado nas páginas 6, 9, 25, 31 e 37.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HYNDMAN, R. J.; ATHANASOPOULOS, G. Forecasting: Principles and Practice. 2. ed. OTexts, 2018. 2nd ed. Disponível em: . Citado nas páginas 6, 9, 19, 31 e 37. 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Box, G. E. P.; Jenkins, G. M.; Reinsel, G. C.; Ljung, G. M. Time Series Analysis: Forecasting and Control. 5. ed. Hoboken: Wiley, 2015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Rotela Jr., H. et al. Ajuste de modelos ARIMA para previsão do Ibovespa (1995–2013). [No seu PDF aparece como “JR; OUTROS, 2014”]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Vaswani, A.; Shazeer, N.; Parmar, N.; Uszkoreit, J.; Jones, L.; Gomez, A. N.; Kaiser, Ł.; Polosukhin, I. Attention is All You Need. Advances in Neural Information Processing Systems, 2017. Disponível em: https://arxiv.org/abs/1703.04691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038225"/>
            <a:ext cx="12949477" cy="195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Referências que estão na apresentação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09126" y="2414205"/>
            <a:ext cx="7355019" cy="598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Ding, G.; Qin, L. Study on the prediction of stock price based on the associated network model of LSTM. International Journal of Machine Learning and Cybernetics, v. 11, n. 6, p. 1307–1317, 2020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Wu, H.; Xu, J.; Wang, J.; Long, M. Deep Transformer Models for Time Series Forecasting: A Review. 2020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Lim, B.; Zohren, S.; Roberts, S. Temporal Fusion Transformers for Interpretable Multi-horizon Time Series Forecasting. International Journal of Forecasting, 2021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Fjellström, C. Long short-term memory neural network for financial time series. arXiv preprint arXiv:2201.08218, 2022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Souza, E. A.; et al. Métodos híbridos de previsão com ensembles de LSTM, SVM e Random Forest. 2022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Nascimento, M.; Santos, R.; Ferreira, L. Comparação de ARIMA, Prophet e LSTM em séries financeiras. 2023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Kabir, M. A.; et al. Modelos híbridos com LSTM, Transformer e MLP para previsão financeira. 2025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56603"/>
            <a:ext cx="7355019" cy="704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MISHKIN, Frederic S.; EAKINS, Stanley G. Financial Markets and Institutions. 9. ed. Pearson, 2018.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BRASIL. Lei n.º 6.385, de 7 de dezembro de 1976 (Mercado de Valores Mobiliários e CVM). Disponível em: 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  <a:hlinkClick r:id="rId4" tooltip="http://www.planalto.gov.br/ccivil_03/leis/l6385.htm?utm_source=chatgpt.com"/>
              </a:rPr>
              <a:t>http://www.planalto.gov.br/ccivil_03/leis/l6385.htm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 Acesso em: 7 ago. 2025.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BRASIL. Lei n.º 6.404, de 15 de dezembro de 1976 (Lei das Sociedades por Ações). Disponível em: 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  <a:hlinkClick r:id="rId5" tooltip="http://www.planalto.gov.br/ccivil_03/leis/l6404consol.htm?utm_source=chatgpt.com"/>
              </a:rPr>
              <a:t>http://www.planalto.gov.br/ccivil_03/leis/l6404consol.htm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 Acesso em: 7 ago. 2025.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B3. B3 — Brasil, Bolsa, Balcão. s.d. Disponível em: 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  <a:hlinkClick r:id="rId6" tooltip="https://www.b3.com.br/?utm_source=chatgpt.com"/>
              </a:rPr>
              <a:t>https://www.b3.com.br/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 Acesso em: 7 ago. 2025.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ANDERSEN, Torben G.; BOLLERSLEV, Tim. Intraday periodicity and volatility persistence in financial markets. Journal of Empirical Finance, v. 4, n. 2–3, p. 115–158, jun. 1997. DOI: 10.1016/S0927-5398(97)00004-2.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GUO, Chuan; PLEISS, Geoff; SUN, Yu; WEINBERGER, Kilian Q. On Calibration of Modern Neural Networks. In: Proceedings of the International Conference on Machine Learning (ICML), 2017.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1773238"/>
            <a:ext cx="8115300" cy="669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HASBROUCK, Joel. Empirical Market Microstructure: The Institutions, Economics, and Econometrics of Securities Trading. Oxford: Oxford University Press, 2007.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MAKRIDAKIS, Spyros; SPILIOTIS, Evangelos; ASSIMAKOPOULOS, Vassilios. Statistical and Machine Learning forecasting methods: Concerns and ways forward. PLOS ONE, 2018.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KUHN, Max; JOHNSON, Kjell. Applied Predictive Modeling. New York, NY: Springer, 2013.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MURPHY, John J. Technical Analysis of the Financial Markets: A Comprehensive Guide to Trading Methods and Applications. 2. ed. New York: New York Institute of Finance, 1999.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BERGMEIR, Carlos; BENÍTEZ, José M. On the use of cross-validation for time series predictor evaluation. Information Sciences, v. 191, p. 192–213, 2012. DOI: 10.1016/j.ins.2011.06.028.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BRIER, Glenn W. Verification of Forecasts Expressed in Terms of Probability. Monthly Weather Review, v. 78, n. 1, p. 1–3, 1950.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OLAH, Christopher. Understanding LSTM Networks. 2015. Disponível em: https://colah.github.io/posts/2015-08-Understanding-LSTMs/. Acesso em: 18 ago. 2025.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64145" y="1028700"/>
            <a:ext cx="695155" cy="775528"/>
          </a:xfrm>
          <a:custGeom>
            <a:avLst/>
            <a:gdLst/>
            <a:ahLst/>
            <a:cxnLst/>
            <a:rect r="r" b="b" t="t" l="l"/>
            <a:pathLst>
              <a:path h="775528" w="695155">
                <a:moveTo>
                  <a:pt x="0" y="0"/>
                </a:moveTo>
                <a:lnTo>
                  <a:pt x="695155" y="0"/>
                </a:lnTo>
                <a:lnTo>
                  <a:pt x="695155" y="775528"/>
                </a:lnTo>
                <a:lnTo>
                  <a:pt x="0" y="7755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57292"/>
            <a:ext cx="7355019" cy="704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DIEBOLD, Francis X.; MARIANO, Roberto S. Comparing Predictive Accuracy. Journal of Business &amp; Economic Statistics, v. 13, n. 3, p. 253–263, 1995.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BODIE, Zvi; KANE, Alex; MARCUS, Alan J. Investments. 12. ed. McGraw-Hill Education, 2021.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SHARPE, William F. The Sharpe Ra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io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Jour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nal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f P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or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tfo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li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 Management, v. 21, n. 1, p. 49–58, 1994.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TS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AY, Ruey S. Analysis of Financial Time Series. 3. ed. Hoboken, NJ: Wiley, 2010.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PRING, Martin J. Technical Analysis Explained: The Successful Investor’s Guide to Spotting Investment Trends 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an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d Turnin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P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oin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t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s.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 5. ed. New York: McGraw-Hill Education, 2014.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BOLLINGER, John. Bollinger on Bollinger Bands. New York: M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c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r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aw-Hill, 2001.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BOROVYKH, Anastasia; BOHTE, Sander; OOSTERLEE, Cornelis W. Conditional Time Series Forecasting with Convolutional Neural Networks. arXiv preprint arXiv:1703.04691, 2017. Disponível em: 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https://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arxiv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.or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g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/a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b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s/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1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7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0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3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.046</a:t>
            </a:r>
            <a:r>
              <a:rPr lang="en-US" sz="2000" u="none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91</a:t>
            </a:r>
            <a:r>
              <a:rPr lang="en-US" sz="2000">
                <a:solidFill>
                  <a:srgbClr val="F5F5F5"/>
                </a:solidFill>
                <a:latin typeface="Aileron"/>
                <a:ea typeface="Aileron"/>
                <a:cs typeface="Aileron"/>
                <a:sym typeface="Aileron"/>
              </a:rPr>
              <a:t>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2357292"/>
            <a:ext cx="8115300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HOCHREITER, Sepp; SCHMIDHUBER, Jürgen. Long Short-Term Memory. Neural Computation, v. 9, n. 8, p. 1735–1780, 1997.</a:t>
            </a:r>
          </a:p>
          <a:p>
            <a:pPr algn="l" marL="431802" indent="-215901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TAYLOR, Sean J.; LETHAM, Benjamin. Forecasting at Scale. The American Statistician, v. 72, n. 1, p. 37–45, 2018.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25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2121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41022" y="-159478"/>
            <a:ext cx="10605956" cy="1060595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C6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97554" y="4658995"/>
            <a:ext cx="4692893" cy="9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0"/>
              </a:lnSpc>
            </a:pPr>
            <a:r>
              <a:rPr lang="en-US" sz="6500" b="true">
                <a:solidFill>
                  <a:srgbClr val="FE6544"/>
                </a:solidFill>
                <a:latin typeface="Garet Bold"/>
                <a:ea typeface="Garet Bold"/>
                <a:cs typeface="Garet Bold"/>
                <a:sym typeface="Garet Bold"/>
              </a:rPr>
              <a:t>Obrigado 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736505" y="9707303"/>
            <a:ext cx="338882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DAGxOFTaSSk</dc:identifier>
  <dcterms:modified xsi:type="dcterms:W3CDTF">2011-08-01T06:04:30Z</dcterms:modified>
  <cp:revision>1</cp:revision>
  <dc:title>PFC1_Predição Automática de Indicativos Financeiros para Bolsa de Valores Considerando o Aspecto Temporal</dc:title>
</cp:coreProperties>
</file>